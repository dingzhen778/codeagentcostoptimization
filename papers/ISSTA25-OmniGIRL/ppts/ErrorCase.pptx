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BF2B"/>
    <a:srgbClr val="BED533"/>
    <a:srgbClr val="FAFED8"/>
    <a:srgbClr val="D8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4" d="100"/>
          <a:sy n="54" d="100"/>
        </p:scale>
        <p:origin x="1882" y="5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67F74-B3EC-47BF-8541-C75F4DDA8538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4986-F222-4221-A1E2-748B45FC8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04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67F74-B3EC-47BF-8541-C75F4DDA8538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4986-F222-4221-A1E2-748B45FC8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03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67F74-B3EC-47BF-8541-C75F4DDA8538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4986-F222-4221-A1E2-748B45FC8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921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67F74-B3EC-47BF-8541-C75F4DDA8538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4986-F222-4221-A1E2-748B45FC8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197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67F74-B3EC-47BF-8541-C75F4DDA8538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4986-F222-4221-A1E2-748B45FC8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69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67F74-B3EC-47BF-8541-C75F4DDA8538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4986-F222-4221-A1E2-748B45FC8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711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67F74-B3EC-47BF-8541-C75F4DDA8538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4986-F222-4221-A1E2-748B45FC8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295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67F74-B3EC-47BF-8541-C75F4DDA8538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4986-F222-4221-A1E2-748B45FC8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650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67F74-B3EC-47BF-8541-C75F4DDA8538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4986-F222-4221-A1E2-748B45FC8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386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67F74-B3EC-47BF-8541-C75F4DDA8538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4986-F222-4221-A1E2-748B45FC8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71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67F74-B3EC-47BF-8541-C75F4DDA8538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4986-F222-4221-A1E2-748B45FC8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15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67F74-B3EC-47BF-8541-C75F4DDA8538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64986-F222-4221-A1E2-748B45FC8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28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0E57724E-ECB1-40CF-9BFF-ED40DFF66B02}"/>
              </a:ext>
            </a:extLst>
          </p:cNvPr>
          <p:cNvSpPr/>
          <p:nvPr/>
        </p:nvSpPr>
        <p:spPr>
          <a:xfrm>
            <a:off x="0" y="0"/>
            <a:ext cx="3429000" cy="68275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&lt;dependency&gt;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zh-CN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com.github.rjeschke</a:t>
            </a:r>
            <a:r>
              <a:rPr lang="en-US" altLang="zh-CN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zh-CN" sz="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zh-CN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zh-CN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txtmark</a:t>
            </a:r>
            <a:r>
              <a:rPr lang="en-US" altLang="zh-CN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zh-CN" sz="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zh-CN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&lt;version&gt;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0.16</a:t>
            </a:r>
            <a:r>
              <a:rPr lang="en-US" altLang="zh-CN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&lt;/version&gt;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&lt;/dependency&gt;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F1D2C27-AF09-46E6-A911-A269585BAA21}"/>
              </a:ext>
            </a:extLst>
          </p:cNvPr>
          <p:cNvSpPr/>
          <p:nvPr/>
        </p:nvSpPr>
        <p:spPr>
          <a:xfrm>
            <a:off x="0" y="67995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6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Could not resolve dependencies for project com.example:readtime-java:jar:1.0-SNAPSHOT: Could not find artifact com.github.rjeschke:txtmark:jar:0.16 in central (https://repo.maven.apache.org/maven2)</a:t>
            </a:r>
            <a:endParaRPr lang="zh-CN" altLang="en-US" sz="6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D518C11-F377-43C4-9060-04AFEDA7C818}"/>
              </a:ext>
            </a:extLst>
          </p:cNvPr>
          <p:cNvSpPr/>
          <p:nvPr/>
        </p:nvSpPr>
        <p:spPr>
          <a:xfrm>
            <a:off x="3429000" y="0"/>
            <a:ext cx="3429000" cy="68275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&lt;plugin&gt;</a:t>
            </a:r>
          </a:p>
          <a:p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n-US" altLang="zh-CN" sz="5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5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org.apache.maven.plugins</a:t>
            </a:r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zh-CN" sz="5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n-US" altLang="zh-CN" sz="5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&gt;maven-compiler-plugin&lt;/</a:t>
            </a:r>
            <a:r>
              <a:rPr lang="en-US" altLang="zh-CN" sz="5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&lt;version&gt;3.8.1&lt;/version&gt;</a:t>
            </a:r>
          </a:p>
          <a:p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&lt;configuration&gt;</a:t>
            </a:r>
          </a:p>
          <a:p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    &lt;source&gt;1.8&lt;/source&gt;</a:t>
            </a:r>
          </a:p>
          <a:p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    &lt;target&gt;1.8&lt;/target&gt;</a:t>
            </a:r>
          </a:p>
          <a:p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&lt;/configuration&gt;</a:t>
            </a:r>
          </a:p>
          <a:p>
            <a:r>
              <a:rPr lang="en-US" altLang="zh-CN" sz="5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&lt;/plugin&gt;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64EE0F2-27BD-464D-955C-AF0EF643C7D6}"/>
              </a:ext>
            </a:extLst>
          </p:cNvPr>
          <p:cNvSpPr/>
          <p:nvPr/>
        </p:nvSpPr>
        <p:spPr>
          <a:xfrm>
            <a:off x="3429000" y="67995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6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Source option 5 is no longer supported. Use 6 or later.</a:t>
            </a:r>
          </a:p>
          <a:p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6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Target option 1.5 is no longer supported. Use 1.6 or later.</a:t>
            </a:r>
            <a:endParaRPr lang="zh-CN" altLang="en-US" sz="6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867A8B63-0E93-4E02-B238-5C8DA8065839}"/>
              </a:ext>
            </a:extLst>
          </p:cNvPr>
          <p:cNvSpPr/>
          <p:nvPr/>
        </p:nvSpPr>
        <p:spPr>
          <a:xfrm>
            <a:off x="0" y="944880"/>
            <a:ext cx="3429000" cy="68275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org.apache.http.client.fluent.Request</a:t>
            </a:r>
            <a:r>
              <a:rPr lang="fr-F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BAE73C25-CECC-43A6-9628-DBB1FC3BDA44}"/>
              </a:ext>
            </a:extLst>
          </p:cNvPr>
          <p:cNvSpPr/>
          <p:nvPr/>
        </p:nvSpPr>
        <p:spPr>
          <a:xfrm>
            <a:off x="0" y="162483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6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6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/main/java/StackAPI.java:[1,37] package </a:t>
            </a:r>
            <a:r>
              <a:rPr lang="en-US" altLang="zh-CN" sz="6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org.apache.http.client.fluent</a:t>
            </a:r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does not exist</a:t>
            </a:r>
            <a:endParaRPr lang="zh-CN" altLang="en-US" sz="6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B6038A65-79F7-4D56-9857-A6950F1E2B62}"/>
              </a:ext>
            </a:extLst>
          </p:cNvPr>
          <p:cNvSpPr/>
          <p:nvPr/>
        </p:nvSpPr>
        <p:spPr>
          <a:xfrm>
            <a:off x="3429000" y="944880"/>
            <a:ext cx="3429000" cy="68275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@Override</a:t>
            </a:r>
          </a:p>
          <a:p>
            <a:r>
              <a:rPr lang="fr-F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protected T crossover(T parent1, T parent2) {</a:t>
            </a:r>
          </a:p>
          <a:p>
            <a:r>
              <a:rPr lang="fr-F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double randDouble = 0.5; // Fix: Determine a sensible legacy strategy (default 0.1)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6A1E21E7-EF7F-4B0F-986B-22CA695D96E9}"/>
              </a:ext>
            </a:extLst>
          </p:cNvPr>
          <p:cNvSpPr/>
          <p:nvPr/>
        </p:nvSpPr>
        <p:spPr>
          <a:xfrm>
            <a:off x="3429000" y="162483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Some problems were encountered while processing the POMs:</a:t>
            </a:r>
          </a:p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[FATAL] Non-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parseable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POM /home/repos/100SolidJavaDebug2/pom.xml: only whitespace content allowed before start tag and not @ (position: START_DOCUMENT seen @... @1:2)  @ line 1, column 2 @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3D9A16BD-A5A4-4A4B-90EB-22B455C038C8}"/>
              </a:ext>
            </a:extLst>
          </p:cNvPr>
          <p:cNvSpPr/>
          <p:nvPr/>
        </p:nvSpPr>
        <p:spPr>
          <a:xfrm>
            <a:off x="0" y="1889760"/>
            <a:ext cx="3429000" cy="682752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testOnWildcards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EventEmitter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EventEmitter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7D7865DF-97D6-4021-8A2C-44BDAE95E73D}"/>
              </a:ext>
            </a:extLst>
          </p:cNvPr>
          <p:cNvSpPr/>
          <p:nvPr/>
        </p:nvSpPr>
        <p:spPr>
          <a:xfrm>
            <a:off x="0" y="256971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/test/java/SyncTestCase.java:[77,27] no suitable constructor found for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EventEmitter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boolean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constructor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EventEmitter.EventEmitter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() is not applicable      (actual and formal argument lists differ in length)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constructor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EventEmitter.EventEmitter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boolean,boolean,int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) is not applicable      (actual and formal argument lists differ in length)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constructor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EventEmitter.EventEmitter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java.lang.String,boolean,boolean,int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) is not applicable      (actual and formal argument lists differ in length)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2065354E-E495-4740-A53B-003E0B9E847C}"/>
              </a:ext>
            </a:extLst>
          </p:cNvPr>
          <p:cNvSpPr/>
          <p:nvPr/>
        </p:nvSpPr>
        <p:spPr>
          <a:xfrm>
            <a:off x="3429000" y="1889760"/>
            <a:ext cx="3429000" cy="682752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FMFTRLMachine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learner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FMFTRLMachine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fmDim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fmInitDev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L1, L2, L1Fm, L2Fm, D, alpha, beta, 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alphaFm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betaFm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82409A02-5BDE-4E49-B83D-0DAF9D553908}"/>
              </a:ext>
            </a:extLst>
          </p:cNvPr>
          <p:cNvSpPr/>
          <p:nvPr/>
        </p:nvSpPr>
        <p:spPr>
          <a:xfrm>
            <a:off x="3429000" y="256971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/main/java/RunModelExample.java:[28,33] constructor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FMFTRLMachine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in class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FMFTRLMachine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cannot be applied to given types;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required: int,double,double,double,double,double,int,double,double,double,double,double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found: int,double,double,double,double,double,int,double,double,double,double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reason: actual and formal argument lists differ in length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20FA4442-61F1-43B3-8BB3-C66732E88B86}"/>
              </a:ext>
            </a:extLst>
          </p:cNvPr>
          <p:cNvSpPr/>
          <p:nvPr/>
        </p:nvSpPr>
        <p:spPr>
          <a:xfrm>
            <a:off x="0" y="2834640"/>
            <a:ext cx="3429000" cy="682752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Filename: DeMoji.java</a:t>
            </a:r>
            <a:endParaRPr lang="en-US" altLang="zh-CN" sz="800" b="0" dirty="0">
              <a:solidFill>
                <a:schemeClr val="accent6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Demoji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emojiPattern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codeToDescMap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8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435E6DE4-E7DE-402D-B330-593152A26D2E}"/>
              </a:ext>
            </a:extLst>
          </p:cNvPr>
          <p:cNvSpPr/>
          <p:nvPr/>
        </p:nvSpPr>
        <p:spPr>
          <a:xfrm>
            <a:off x="0" y="351459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8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/main/java/DeMoji.java:[25,8] class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Demoji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is public, should be declared in a file named Demoji.java</a:t>
            </a:r>
            <a:endParaRPr lang="zh-CN" altLang="en-US" sz="8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1A9DE48E-8CC5-4862-995E-8A1AF8F03113}"/>
              </a:ext>
            </a:extLst>
          </p:cNvPr>
          <p:cNvSpPr/>
          <p:nvPr/>
        </p:nvSpPr>
        <p:spPr>
          <a:xfrm>
            <a:off x="3429000" y="2839720"/>
            <a:ext cx="3429000" cy="682752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5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(DEFAULT_ALPHABET, DEFAULT_BLOCK_SIZE);</a:t>
            </a:r>
          </a:p>
          <a:p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altLang="zh-CN" sz="5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(n, </a:t>
            </a:r>
            <a:r>
              <a:rPr lang="en-US" altLang="zh-CN" sz="5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enbase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(n), </a:t>
            </a:r>
            <a:r>
              <a:rPr lang="en-US" altLang="zh-CN" sz="5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8C23B723-AA21-4A0C-9207-9E89AF2C9514}"/>
              </a:ext>
            </a:extLst>
          </p:cNvPr>
          <p:cNvSpPr/>
          <p:nvPr/>
        </p:nvSpPr>
        <p:spPr>
          <a:xfrm>
            <a:off x="3429000" y="351967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8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/main/java/ShortUrl.java:[45,19] method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encodeUrl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int,int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) is already defined in class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ShortUrl</a:t>
            </a:r>
            <a:endParaRPr lang="zh-CN" altLang="en-US" sz="8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77E8A30B-04DD-4088-BBFA-4DB8019E657E}"/>
              </a:ext>
            </a:extLst>
          </p:cNvPr>
          <p:cNvSpPr/>
          <p:nvPr/>
        </p:nvSpPr>
        <p:spPr>
          <a:xfrm>
            <a:off x="0" y="3783330"/>
            <a:ext cx="3429000" cy="682752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RegexExpr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5A7D0858-F37C-4E01-9AF2-A8CCD3B0C5F1}"/>
              </a:ext>
            </a:extLst>
          </p:cNvPr>
          <p:cNvSpPr/>
          <p:nvPr/>
        </p:nvSpPr>
        <p:spPr>
          <a:xfrm>
            <a:off x="0" y="446709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8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impl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/SequenceExpr.java:[3,17] '.' expected</a:t>
            </a:r>
            <a:endParaRPr lang="zh-CN" altLang="en-US" sz="800" dirty="0">
              <a:solidFill>
                <a:schemeClr val="tx1"/>
              </a:solidFill>
              <a:highlight>
                <a:srgbClr val="FFFF00"/>
              </a:highlight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9C228A45-DA01-4921-82B4-9843D4E53C20}"/>
              </a:ext>
            </a:extLst>
          </p:cNvPr>
          <p:cNvSpPr/>
          <p:nvPr/>
        </p:nvSpPr>
        <p:spPr>
          <a:xfrm>
            <a:off x="3429000" y="3787140"/>
            <a:ext cx="3429000" cy="682752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JsonNode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fields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jsonNode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fields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F6887BED-F6C8-4558-957E-A72F454FA558}"/>
              </a:ext>
            </a:extLst>
          </p:cNvPr>
          <p:cNvSpPr/>
          <p:nvPr/>
        </p:nvSpPr>
        <p:spPr>
          <a:xfrm>
            <a:off x="3429000" y="446709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8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/main/java/Forecast.java:[49,25] package Map does not exist</a:t>
            </a:r>
            <a:endParaRPr lang="zh-CN" altLang="en-US" sz="800" dirty="0">
              <a:solidFill>
                <a:schemeClr val="tx1"/>
              </a:solidFill>
              <a:highlight>
                <a:srgbClr val="FFFF00"/>
              </a:highlight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9541C617-11B8-467D-B661-B9E3747F3C4C}"/>
              </a:ext>
            </a:extLst>
          </p:cNvPr>
          <p:cNvSpPr/>
          <p:nvPr/>
        </p:nvSpPr>
        <p:spPr>
          <a:xfrm>
            <a:off x="0" y="4732020"/>
            <a:ext cx="3429000" cy="682752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setDerivedUnitsAndConstants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zh-CN" sz="8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mS = 1e-3 * S;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uS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= 1e-6 * S;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nS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= 1e-9 * S;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8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// Magnetic fields and fluxes</a:t>
            </a: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1F381272-B191-40B7-9D76-1669D3074505}"/>
              </a:ext>
            </a:extLst>
          </p:cNvPr>
          <p:cNvSpPr/>
          <p:nvPr/>
        </p:nvSpPr>
        <p:spPr>
          <a:xfrm>
            <a:off x="0" y="541197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8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/main/java/NumericalUnits.java:[264,23] reached end of file while parsing</a:t>
            </a:r>
            <a:endParaRPr lang="zh-CN" altLang="en-US" sz="8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9BF5665A-2701-4C75-A3E6-BB71B577BC6F}"/>
              </a:ext>
            </a:extLst>
          </p:cNvPr>
          <p:cNvSpPr/>
          <p:nvPr/>
        </p:nvSpPr>
        <p:spPr>
          <a:xfrm>
            <a:off x="3429000" y="4732020"/>
            <a:ext cx="3429000" cy="682752"/>
          </a:xfrm>
          <a:prstGeom prst="roundRect">
            <a:avLst>
              <a:gd name="adj" fmla="val 0"/>
            </a:avLst>
          </a:prstGeom>
          <a:solidFill>
            <a:srgbClr val="7030A0">
              <a:alpha val="18000"/>
            </a:srgb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(DEFAULT_ALPHABET, DEFAULT_BLOCK_SIZE);</a:t>
            </a:r>
          </a:p>
          <a:p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altLang="zh-CN" sz="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(n, </a:t>
            </a:r>
            <a:r>
              <a:rPr lang="en-US" altLang="zh-CN" sz="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zh-CN" sz="7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9BE063BA-B8C1-43CA-8EFB-6522F5020473}"/>
              </a:ext>
            </a:extLst>
          </p:cNvPr>
          <p:cNvSpPr/>
          <p:nvPr/>
        </p:nvSpPr>
        <p:spPr>
          <a:xfrm>
            <a:off x="3429000" y="541197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8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/main/java/ShortUrl.java:[36,30] non-static variable this cannot be referenced from a static context</a:t>
            </a:r>
            <a:endParaRPr lang="zh-CN" altLang="en-US" sz="8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56477743-A8EC-43D1-BE5F-FE9EC2E64F83}"/>
              </a:ext>
            </a:extLst>
          </p:cNvPr>
          <p:cNvSpPr/>
          <p:nvPr/>
        </p:nvSpPr>
        <p:spPr>
          <a:xfrm>
            <a:off x="0" y="5676900"/>
            <a:ext cx="3429000" cy="682752"/>
          </a:xfrm>
          <a:prstGeom prst="roundRect">
            <a:avLst>
              <a:gd name="adj" fmla="val 0"/>
            </a:avLst>
          </a:prstGeom>
          <a:solidFill>
            <a:srgbClr val="7030A0">
              <a:alpha val="18000"/>
            </a:srgb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clui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lightBlue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(frame)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clui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grey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(message)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\r</a:t>
            </a:r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Clui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Colorize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...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C1468D0B-B638-4373-ABC0-8F432E13CB79}"/>
              </a:ext>
            </a:extLst>
          </p:cNvPr>
          <p:cNvSpPr/>
          <p:nvPr/>
        </p:nvSpPr>
        <p:spPr>
          <a:xfrm>
            <a:off x="0" y="635685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8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/main/java/Spinner.java:[29,30] c has private access in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Clui</a:t>
            </a:r>
            <a:endParaRPr lang="en-US" altLang="zh-CN" sz="8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  <a:p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8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/main/java/Spinner.java:[29,62] c has private access in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Clui</a:t>
            </a:r>
            <a:endParaRPr lang="zh-CN" altLang="en-US" sz="8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9062332D-9AD8-4C86-81E3-1F9565B9DFDE}"/>
              </a:ext>
            </a:extLst>
          </p:cNvPr>
          <p:cNvSpPr/>
          <p:nvPr/>
        </p:nvSpPr>
        <p:spPr>
          <a:xfrm>
            <a:off x="3429000" y="5676900"/>
            <a:ext cx="3429000" cy="682752"/>
          </a:xfrm>
          <a:prstGeom prst="roundRect">
            <a:avLst>
              <a:gd name="adj" fmla="val 0"/>
            </a:avLst>
          </a:prstGeom>
          <a:solidFill>
            <a:srgbClr val="7030A0">
              <a:alpha val="18000"/>
            </a:srgb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root </a:t>
            </a:r>
            <a:r>
              <a:rPr lang="en-US" altLang="zh-CN" sz="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UnitNode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sz="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altLang="zh-CN" sz="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UnitNode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700" dirty="0">
                <a:solidFill>
                  <a:srgbClr val="3B3B3B"/>
                </a:solidFill>
                <a:latin typeface="Consolas" panose="020B0609020204030204" pitchFamily="49" charset="0"/>
              </a:rPr>
              <a:t>    ...</a:t>
            </a:r>
            <a:endParaRPr lang="en-US" altLang="zh-CN" sz="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F6A6C9FA-FD4A-47FB-9937-103237E30360}"/>
              </a:ext>
            </a:extLst>
          </p:cNvPr>
          <p:cNvSpPr/>
          <p:nvPr/>
        </p:nvSpPr>
        <p:spPr>
          <a:xfrm>
            <a:off x="3429000" y="6356858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8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/main/java/Tree.java:[12,16]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UnitNode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is abstract; cannot be instantiated</a:t>
            </a:r>
            <a:endParaRPr lang="zh-CN" altLang="en-US" sz="8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90ED7893-EB87-4148-BCC6-994C14E9B115}"/>
              </a:ext>
            </a:extLst>
          </p:cNvPr>
          <p:cNvSpPr/>
          <p:nvPr/>
        </p:nvSpPr>
        <p:spPr>
          <a:xfrm>
            <a:off x="3429000" y="6624066"/>
            <a:ext cx="3429000" cy="682752"/>
          </a:xfrm>
          <a:prstGeom prst="roundRect">
            <a:avLst>
              <a:gd name="adj" fmla="val 0"/>
            </a:avLst>
          </a:prstGeom>
          <a:solidFill>
            <a:srgbClr val="7030A0">
              <a:alpha val="18000"/>
            </a:srgb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RegexExpr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repeated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RegexExpr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exactly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8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RepeatedExpr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(expr, exactly, exactly,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99B6729C-7192-411F-B16D-7E0CE8C6F6EC}"/>
              </a:ext>
            </a:extLst>
          </p:cNvPr>
          <p:cNvSpPr/>
          <p:nvPr/>
        </p:nvSpPr>
        <p:spPr>
          <a:xfrm>
            <a:off x="3429000" y="7304024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8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/main/java/RegexExpr.java:[49,16] incompatible types: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impl.RepeatedExpr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cannot be converted to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RegexExpr</a:t>
            </a:r>
            <a:endParaRPr lang="zh-CN" altLang="en-US" sz="8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3BFB0265-195D-455D-943C-0039708AA528}"/>
              </a:ext>
            </a:extLst>
          </p:cNvPr>
          <p:cNvSpPr/>
          <p:nvPr/>
        </p:nvSpPr>
        <p:spPr>
          <a:xfrm>
            <a:off x="0" y="7563358"/>
            <a:ext cx="3429000" cy="682752"/>
          </a:xfrm>
          <a:prstGeom prst="roundRect">
            <a:avLst>
              <a:gd name="adj" fmla="val 0"/>
            </a:avLst>
          </a:prstGeom>
          <a:solidFill>
            <a:srgbClr val="7030A0">
              <a:alpha val="18000"/>
            </a:srgb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altLang="zh-CN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pt-B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"HTTP/1.0 "</a:t>
            </a:r>
            <a:r>
              <a:rPr lang="pt-B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httpCode </a:t>
            </a:r>
            <a:r>
              <a:rPr lang="pt-BR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pt-B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HTTP_CODES</a:t>
            </a:r>
            <a:r>
              <a:rPr lang="pt-B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altLang="zh-CN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pt-B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(httpCode) </a:t>
            </a:r>
            <a:r>
              <a:rPr lang="pt-BR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\r\n</a:t>
            </a:r>
            <a:r>
              <a:rPr lang="pt-BR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F706F44B-8274-4731-9DBA-2E705A53A77F}"/>
              </a:ext>
            </a:extLst>
          </p:cNvPr>
          <p:cNvSpPr/>
          <p:nvPr/>
        </p:nvSpPr>
        <p:spPr>
          <a:xfrm>
            <a:off x="0" y="8243316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8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/main/java/Utils.java:[19,20] unreported exception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java.io.IOException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; must be caught or declared to be thrown</a:t>
            </a:r>
            <a:endParaRPr lang="zh-CN" altLang="en-US" sz="8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D0A21B2A-B815-4839-9759-6C7430D2FE17}"/>
              </a:ext>
            </a:extLst>
          </p:cNvPr>
          <p:cNvSpPr/>
          <p:nvPr/>
        </p:nvSpPr>
        <p:spPr>
          <a:xfrm>
            <a:off x="3429000" y="7566152"/>
            <a:ext cx="3429000" cy="682752"/>
          </a:xfrm>
          <a:prstGeom prst="roundRect">
            <a:avLst>
              <a:gd name="adj" fmla="val 0"/>
            </a:avLst>
          </a:prstGeom>
          <a:solidFill>
            <a:srgbClr val="7030A0">
              <a:alpha val="18000"/>
            </a:srgb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findDiffStart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oldSrc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newSrc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oldLines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oldSrc</a:t>
            </a:r>
            <a:r>
              <a:rPr lang="en-US" altLang="zh-CN" sz="7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zh-CN" sz="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BC2AFB31-056E-4BBF-BC19-ADD0D3B3A8F6}"/>
              </a:ext>
            </a:extLst>
          </p:cNvPr>
          <p:cNvSpPr/>
          <p:nvPr/>
        </p:nvSpPr>
        <p:spPr>
          <a:xfrm>
            <a:off x="3429000" y="8246110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7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7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7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7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7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/main/java/FindDiff.java:[5,42] unclosed string literal</a:t>
            </a:r>
          </a:p>
          <a:p>
            <a:r>
              <a:rPr lang="en-US" altLang="zh-CN" sz="7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7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7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7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7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/main/java/FindDiff.java:[6,1] unclosed string literal</a:t>
            </a: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10200072-0BDB-4818-8531-783D6A4B91AA}"/>
              </a:ext>
            </a:extLst>
          </p:cNvPr>
          <p:cNvSpPr/>
          <p:nvPr/>
        </p:nvSpPr>
        <p:spPr>
          <a:xfrm>
            <a:off x="0" y="8510524"/>
            <a:ext cx="3429000" cy="682752"/>
          </a:xfrm>
          <a:prstGeom prst="roundRect">
            <a:avLst>
              <a:gd name="adj" fmla="val 0"/>
            </a:avLst>
          </a:prstGeom>
          <a:solidFill>
            <a:srgbClr val="7030A0">
              <a:alpha val="18000"/>
            </a:srgb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VERSION_INFO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altLang="zh-CN" sz="7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7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zh-CN" sz="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D66BF2B0-09D6-4759-968A-0D361AC71659}"/>
              </a:ext>
            </a:extLst>
          </p:cNvPr>
          <p:cNvSpPr/>
          <p:nvPr/>
        </p:nvSpPr>
        <p:spPr>
          <a:xfrm>
            <a:off x="0" y="9190482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6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6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/main/java/AppDirs.java:[6,48] illegal start of expression</a:t>
            </a:r>
          </a:p>
          <a:p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6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6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/main/java/AppDirs.java:[6,62] &lt;identifier&gt; expected</a:t>
            </a:r>
          </a:p>
          <a:p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6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6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6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/main/java/AppDirs.java:[6,63] illegal start of type</a:t>
            </a:r>
            <a:endParaRPr lang="zh-CN" altLang="en-US" sz="6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E7463506-AD8E-4FA1-9A2F-A8DD0231FFF5}"/>
              </a:ext>
            </a:extLst>
          </p:cNvPr>
          <p:cNvSpPr/>
          <p:nvPr/>
        </p:nvSpPr>
        <p:spPr>
          <a:xfrm>
            <a:off x="3429000" y="8510524"/>
            <a:ext cx="3429000" cy="682752"/>
          </a:xfrm>
          <a:prstGeom prst="roundRect">
            <a:avLst>
              <a:gd name="adj" fmla="val 0"/>
            </a:avLst>
          </a:prstGeom>
          <a:solidFill>
            <a:srgbClr val="FAFED8">
              <a:alpha val="30000"/>
            </a:srgb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7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7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🛠️ </a:t>
            </a:r>
            <a:r>
              <a:rPr lang="en-US" altLang="zh-CN" sz="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Building image </a:t>
            </a:r>
            <a:r>
              <a:rPr lang="en-US" altLang="zh-CN" sz="7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nytimes</a:t>
            </a:r>
            <a:r>
              <a:rPr lang="en-US" altLang="zh-CN" sz="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/blender:"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tag);</a:t>
            </a: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E1981B8D-AE42-4A17-8574-2A29955D0B0B}"/>
              </a:ext>
            </a:extLst>
          </p:cNvPr>
          <p:cNvSpPr/>
          <p:nvPr/>
        </p:nvSpPr>
        <p:spPr>
          <a:xfrm>
            <a:off x="3429000" y="9190482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8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/main/java/Build.java:[20,37] unmappable character (0xF0) for encoding US-ASCII</a:t>
            </a:r>
            <a:endParaRPr lang="zh-CN" altLang="en-US" sz="8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7B5F9335-A264-4446-AB6E-707BB6E3C7A6}"/>
              </a:ext>
            </a:extLst>
          </p:cNvPr>
          <p:cNvSpPr/>
          <p:nvPr/>
        </p:nvSpPr>
        <p:spPr>
          <a:xfrm>
            <a:off x="0" y="6613398"/>
            <a:ext cx="3429000" cy="682752"/>
          </a:xfrm>
          <a:prstGeom prst="roundRect">
            <a:avLst>
              <a:gd name="adj" fmla="val 0"/>
            </a:avLst>
          </a:prstGeom>
          <a:solidFill>
            <a:srgbClr val="7030A0">
              <a:alpha val="18000"/>
            </a:srgb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Filename: SteamAPI.java</a:t>
            </a:r>
          </a:p>
          <a:p>
            <a:r>
              <a:rPr lang="en-US" altLang="zh-CN" sz="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SteamAPI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getJson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5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Filename: SteamUser.java</a:t>
            </a:r>
          </a:p>
          <a:p>
            <a:r>
              <a:rPr lang="en-US" altLang="zh-CN" sz="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SteamUser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SteamAPI</a:t>
            </a:r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5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Missing the override of abstract method </a:t>
            </a:r>
            <a:r>
              <a:rPr lang="en-US" altLang="zh-CN" sz="5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getJson</a:t>
            </a:r>
            <a:endParaRPr lang="en-US" altLang="zh-CN" sz="5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sz="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D1C95467-71EC-4A74-9810-A9FBF568D330}"/>
              </a:ext>
            </a:extLst>
          </p:cNvPr>
          <p:cNvSpPr/>
          <p:nvPr/>
        </p:nvSpPr>
        <p:spPr>
          <a:xfrm>
            <a:off x="0" y="7293356"/>
            <a:ext cx="3429000" cy="2649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8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/main/java/SteamUser.java:[1,8]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SteamUser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is not abstract and does not override abstract method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getJson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java.lang.String</a:t>
            </a:r>
            <a:r>
              <a:rPr lang="en-US" altLang="zh-CN" sz="8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) in </a:t>
            </a:r>
            <a:r>
              <a:rPr lang="en-US" altLang="zh-CN" sz="8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SteamAPI</a:t>
            </a:r>
            <a:endParaRPr lang="zh-CN" altLang="en-US" sz="800" dirty="0">
              <a:solidFill>
                <a:schemeClr val="tx1"/>
              </a:solidFill>
              <a:highlight>
                <a:srgbClr val="FFFF00"/>
              </a:highlight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DABEB641-23F2-4957-ADB4-1F462EBC7D4C}"/>
              </a:ext>
            </a:extLst>
          </p:cNvPr>
          <p:cNvSpPr/>
          <p:nvPr/>
        </p:nvSpPr>
        <p:spPr>
          <a:xfrm>
            <a:off x="3007360" y="5588"/>
            <a:ext cx="416560" cy="14681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E1.1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D55E90EA-4D9E-467D-BB91-F5F8530EF510}"/>
              </a:ext>
            </a:extLst>
          </p:cNvPr>
          <p:cNvSpPr/>
          <p:nvPr/>
        </p:nvSpPr>
        <p:spPr>
          <a:xfrm>
            <a:off x="6446520" y="5588"/>
            <a:ext cx="416560" cy="14681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E1.2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AAB0FF7E-B64A-4BD3-9715-E0521BCE0FAB}"/>
              </a:ext>
            </a:extLst>
          </p:cNvPr>
          <p:cNvSpPr/>
          <p:nvPr/>
        </p:nvSpPr>
        <p:spPr>
          <a:xfrm>
            <a:off x="3012440" y="949071"/>
            <a:ext cx="416560" cy="14681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E1.3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ECC545E-5317-498C-AB1A-30B1C2ABB3A1}"/>
              </a:ext>
            </a:extLst>
          </p:cNvPr>
          <p:cNvSpPr/>
          <p:nvPr/>
        </p:nvSpPr>
        <p:spPr>
          <a:xfrm>
            <a:off x="3009265" y="1893951"/>
            <a:ext cx="416560" cy="146812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E2.1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CC2A2BBB-FE17-4D96-8362-A5BD99113DD0}"/>
              </a:ext>
            </a:extLst>
          </p:cNvPr>
          <p:cNvSpPr/>
          <p:nvPr/>
        </p:nvSpPr>
        <p:spPr>
          <a:xfrm>
            <a:off x="3012440" y="2838831"/>
            <a:ext cx="416560" cy="146812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E2.3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8F066AAC-5BDE-4EDB-83D3-250ADD3E74F5}"/>
              </a:ext>
            </a:extLst>
          </p:cNvPr>
          <p:cNvSpPr/>
          <p:nvPr/>
        </p:nvSpPr>
        <p:spPr>
          <a:xfrm>
            <a:off x="3012440" y="3789807"/>
            <a:ext cx="416560" cy="146812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E2.5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B8DC2D83-808F-4F73-99DC-65770297BFF3}"/>
              </a:ext>
            </a:extLst>
          </p:cNvPr>
          <p:cNvSpPr/>
          <p:nvPr/>
        </p:nvSpPr>
        <p:spPr>
          <a:xfrm>
            <a:off x="3012440" y="4740402"/>
            <a:ext cx="416560" cy="146812"/>
          </a:xfrm>
          <a:prstGeom prst="roundRect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E3.2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8E3939E4-19AE-43EF-A9C7-3F030D7C1A9A}"/>
              </a:ext>
            </a:extLst>
          </p:cNvPr>
          <p:cNvSpPr/>
          <p:nvPr/>
        </p:nvSpPr>
        <p:spPr>
          <a:xfrm>
            <a:off x="3014980" y="5682488"/>
            <a:ext cx="416560" cy="146812"/>
          </a:xfrm>
          <a:prstGeom prst="roundRect">
            <a:avLst>
              <a:gd name="adj" fmla="val 0"/>
            </a:avLst>
          </a:prstGeom>
          <a:solidFill>
            <a:srgbClr val="7030A0">
              <a:alpha val="80000"/>
            </a:srgb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E4.2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C2912CC3-B6C4-4927-9A49-3D473546BF10}"/>
              </a:ext>
            </a:extLst>
          </p:cNvPr>
          <p:cNvSpPr/>
          <p:nvPr/>
        </p:nvSpPr>
        <p:spPr>
          <a:xfrm>
            <a:off x="3012440" y="6620764"/>
            <a:ext cx="416560" cy="146812"/>
          </a:xfrm>
          <a:prstGeom prst="roundRect">
            <a:avLst>
              <a:gd name="adj" fmla="val 0"/>
            </a:avLst>
          </a:prstGeom>
          <a:solidFill>
            <a:srgbClr val="7030A0">
              <a:alpha val="80000"/>
            </a:srgb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E4.4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67609418-AD74-4773-A340-5738932FCAB9}"/>
              </a:ext>
            </a:extLst>
          </p:cNvPr>
          <p:cNvSpPr/>
          <p:nvPr/>
        </p:nvSpPr>
        <p:spPr>
          <a:xfrm>
            <a:off x="3014980" y="7565644"/>
            <a:ext cx="416560" cy="146812"/>
          </a:xfrm>
          <a:prstGeom prst="roundRect">
            <a:avLst>
              <a:gd name="adj" fmla="val 0"/>
            </a:avLst>
          </a:prstGeom>
          <a:solidFill>
            <a:srgbClr val="7030A0">
              <a:alpha val="80000"/>
            </a:srgb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E4.6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CFF50F9F-DB10-4C49-9DCD-0DEF65093BC9}"/>
              </a:ext>
            </a:extLst>
          </p:cNvPr>
          <p:cNvSpPr/>
          <p:nvPr/>
        </p:nvSpPr>
        <p:spPr>
          <a:xfrm>
            <a:off x="3014980" y="8512048"/>
            <a:ext cx="416560" cy="146812"/>
          </a:xfrm>
          <a:prstGeom prst="roundRect">
            <a:avLst>
              <a:gd name="adj" fmla="val 0"/>
            </a:avLst>
          </a:prstGeom>
          <a:solidFill>
            <a:srgbClr val="7030A0">
              <a:alpha val="80000"/>
            </a:srgb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E4.8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47B16140-4BA8-44E9-BD3E-2782EE4ECE11}"/>
              </a:ext>
            </a:extLst>
          </p:cNvPr>
          <p:cNvSpPr/>
          <p:nvPr/>
        </p:nvSpPr>
        <p:spPr>
          <a:xfrm>
            <a:off x="6446520" y="948309"/>
            <a:ext cx="416560" cy="14681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E1.4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56315A4B-CBF5-4CB7-BAD1-CB89A7649E15}"/>
              </a:ext>
            </a:extLst>
          </p:cNvPr>
          <p:cNvSpPr/>
          <p:nvPr/>
        </p:nvSpPr>
        <p:spPr>
          <a:xfrm>
            <a:off x="6442710" y="1895348"/>
            <a:ext cx="416560" cy="146812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E2.2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595F35E-BB24-414A-A0C3-8A8AFBCC0D7B}"/>
              </a:ext>
            </a:extLst>
          </p:cNvPr>
          <p:cNvSpPr/>
          <p:nvPr/>
        </p:nvSpPr>
        <p:spPr>
          <a:xfrm>
            <a:off x="6442710" y="2845244"/>
            <a:ext cx="416560" cy="146812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E2.4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53E2929-9ED7-458F-82C9-DAD20B2A373F}"/>
              </a:ext>
            </a:extLst>
          </p:cNvPr>
          <p:cNvSpPr/>
          <p:nvPr/>
        </p:nvSpPr>
        <p:spPr>
          <a:xfrm>
            <a:off x="6446520" y="3790187"/>
            <a:ext cx="416560" cy="146812"/>
          </a:xfrm>
          <a:prstGeom prst="roundRect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E3.1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1DC08D88-EC03-4E9C-89EF-66740D31165F}"/>
              </a:ext>
            </a:extLst>
          </p:cNvPr>
          <p:cNvSpPr/>
          <p:nvPr/>
        </p:nvSpPr>
        <p:spPr>
          <a:xfrm>
            <a:off x="6442710" y="4739894"/>
            <a:ext cx="416560" cy="146812"/>
          </a:xfrm>
          <a:prstGeom prst="roundRect">
            <a:avLst>
              <a:gd name="adj" fmla="val 0"/>
            </a:avLst>
          </a:prstGeom>
          <a:solidFill>
            <a:srgbClr val="7030A0">
              <a:alpha val="80000"/>
            </a:srgb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E4.1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145193F-2D94-4409-ADF4-8913B0980C4C}"/>
              </a:ext>
            </a:extLst>
          </p:cNvPr>
          <p:cNvSpPr/>
          <p:nvPr/>
        </p:nvSpPr>
        <p:spPr>
          <a:xfrm>
            <a:off x="6441440" y="5681091"/>
            <a:ext cx="416560" cy="146812"/>
          </a:xfrm>
          <a:prstGeom prst="roundRect">
            <a:avLst>
              <a:gd name="adj" fmla="val 0"/>
            </a:avLst>
          </a:prstGeom>
          <a:solidFill>
            <a:srgbClr val="7030A0">
              <a:alpha val="80000"/>
            </a:srgb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E4.3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B929C474-0A96-40CE-8B45-A325F413A0E8}"/>
              </a:ext>
            </a:extLst>
          </p:cNvPr>
          <p:cNvSpPr/>
          <p:nvPr/>
        </p:nvSpPr>
        <p:spPr>
          <a:xfrm>
            <a:off x="6442710" y="6626860"/>
            <a:ext cx="416560" cy="146812"/>
          </a:xfrm>
          <a:prstGeom prst="roundRect">
            <a:avLst>
              <a:gd name="adj" fmla="val 0"/>
            </a:avLst>
          </a:prstGeom>
          <a:solidFill>
            <a:srgbClr val="7030A0">
              <a:alpha val="80000"/>
            </a:srgb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E4.5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D66F0FD9-B590-43B3-BB09-72F449809DB7}"/>
              </a:ext>
            </a:extLst>
          </p:cNvPr>
          <p:cNvSpPr/>
          <p:nvPr/>
        </p:nvSpPr>
        <p:spPr>
          <a:xfrm>
            <a:off x="6441440" y="7565644"/>
            <a:ext cx="416560" cy="146812"/>
          </a:xfrm>
          <a:prstGeom prst="roundRect">
            <a:avLst>
              <a:gd name="adj" fmla="val 0"/>
            </a:avLst>
          </a:prstGeom>
          <a:solidFill>
            <a:srgbClr val="7030A0">
              <a:alpha val="80000"/>
            </a:srgb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E4.7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A23C1900-0BB2-4098-B26D-BBB7AA3D43F8}"/>
              </a:ext>
            </a:extLst>
          </p:cNvPr>
          <p:cNvSpPr/>
          <p:nvPr/>
        </p:nvSpPr>
        <p:spPr>
          <a:xfrm>
            <a:off x="6441440" y="8516239"/>
            <a:ext cx="416560" cy="146812"/>
          </a:xfrm>
          <a:prstGeom prst="roundRect">
            <a:avLst>
              <a:gd name="adj" fmla="val 0"/>
            </a:avLst>
          </a:prstGeom>
          <a:solidFill>
            <a:schemeClr val="accent4">
              <a:lumMod val="7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E5.1</a:t>
            </a:r>
          </a:p>
        </p:txBody>
      </p:sp>
    </p:spTree>
    <p:extLst>
      <p:ext uri="{BB962C8B-B14F-4D97-AF65-F5344CB8AC3E}">
        <p14:creationId xmlns:p14="http://schemas.microsoft.com/office/powerpoint/2010/main" val="4021831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1514</Words>
  <Application>Microsoft Office PowerPoint</Application>
  <PresentationFormat>A4 纸张(210x297 毫米)</PresentationFormat>
  <Paragraphs>123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-apple-system</vt:lpstr>
      <vt:lpstr>Arial</vt:lpstr>
      <vt:lpstr>Calibri</vt:lpstr>
      <vt:lpstr>Calibri Light</vt:lpstr>
      <vt:lpstr>Consolas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Yanli</dc:creator>
  <cp:lastModifiedBy>Wang Yanli</cp:lastModifiedBy>
  <cp:revision>57</cp:revision>
  <dcterms:created xsi:type="dcterms:W3CDTF">2024-09-13T08:11:03Z</dcterms:created>
  <dcterms:modified xsi:type="dcterms:W3CDTF">2024-09-23T16:03:09Z</dcterms:modified>
</cp:coreProperties>
</file>