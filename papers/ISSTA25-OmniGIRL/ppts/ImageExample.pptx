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69" r:id="rId3"/>
    <p:sldId id="263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2615"/>
    <a:srgbClr val="835CC6"/>
    <a:srgbClr val="C00000"/>
    <a:srgbClr val="D7DFE6"/>
    <a:srgbClr val="1F6CC4"/>
    <a:srgbClr val="D8E0E6"/>
    <a:srgbClr val="083067"/>
    <a:srgbClr val="072F69"/>
    <a:srgbClr val="89B4CF"/>
    <a:srgbClr val="6E43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46"/>
    <p:restoredTop sz="94722"/>
  </p:normalViewPr>
  <p:slideViewPr>
    <p:cSldViewPr snapToGrid="0">
      <p:cViewPr>
        <p:scale>
          <a:sx n="133" d="100"/>
          <a:sy n="133" d="100"/>
        </p:scale>
        <p:origin x="296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1AB0DB-98C9-0A40-8C7F-0CDB819CB832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3E84C-F390-2C4E-B4E7-2DF9EDA9676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5227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3E84C-F390-2C4E-B4E7-2DF9EDA96761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4236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3E84C-F390-2C4E-B4E7-2DF9EDA96761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4558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04FFC-B8F8-976F-06EE-2EC0A2FF0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5984E7-D159-6C88-6FED-0F5527B8E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6A2E08B-A312-C6C4-4791-FCA0B68E1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v3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4B4219-CDFD-A881-AF85-4F55EB9394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3E84C-F390-2C4E-B4E7-2DF9EDA96761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04706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602D3D-3C03-25FB-5CFB-DD8FC0D21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2C8A78-6184-7971-3E10-222B9392D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C7C4E8-B3F0-B14F-BA18-AB358DF01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7F1643-D555-0E54-B817-1D5B18BD5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FC94CB-717E-0BA5-C158-E51101115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5352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88EF63-F747-8148-E0FC-FD7BFCAF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7A60A1-833D-4856-4F45-CD897E8D0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668026-248E-6431-4003-0F7DE63BE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795BDB-1E90-AE71-860E-5A516612E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592E14-60F6-9198-16D0-ED1C78AEC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0550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DCF0E1-30B4-5BF1-F445-9DA35D0D6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4C208E-A6BC-5248-20A1-428B907C7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8ECD74-5BE4-1FA1-77FF-B4073CB63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65681F-35B0-B930-889E-80E4BDBD7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1150BE-39B6-39E7-9482-C7E92CB40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76742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D852D9-9569-4A09-EF6C-AE854F270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E8F5C2-FB2C-B752-A82B-C324E48F15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8B995A-15E0-46A1-15FE-2AED4F56A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E86D7A-F09E-A9D6-7566-7A3856A01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064FA8-E352-2B96-B2F5-178004D32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538B8C-DE82-3A0C-5571-C1E142880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76793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34EA53-60D3-BD4E-FC8B-0345CE137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7EE235-99D9-1C80-82EB-015033805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F1A8BA-977E-F609-FD54-6D8DFB910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450A95C-9C50-7609-0AF5-0A318452A5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4E05A9-63F8-0B56-6EB9-C17B74ADBE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F075B0C-EEC0-9B7A-A6E9-5B461896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B99A2C8-1669-FCA2-A191-6F48CF81A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CFBAC36-604E-6B33-E16F-59A62887D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7031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319630-C3C5-60E4-6D94-7F396885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E564125-6218-FBD0-9366-5E61F632A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01713F-1CE4-638D-00CA-FDD26E5EE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0A80C8C-E40D-C74C-0237-10993DADD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3505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5CCAC2C-5DA6-FFD5-D64D-773B06781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A34ADED-C821-8B18-7A0F-30FFA5A6B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0358FA-7C26-63F7-80AD-0CB7906DA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31660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78EADB-2466-32D8-526F-BBDA1EB7E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A0727B-F6DA-870A-1634-0CA6EF650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C588C22-F9B9-3CD7-3461-ED38584E6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BD0A78-0B89-FE0D-CD15-51B40D79F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B2233C-25E9-1ABB-8EEF-851D00029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ECE572-760E-AC40-9EBE-2286B862B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1110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D7F59F-7997-785F-4EC4-F8B3BB8C2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7C23628-EC96-C08B-AE46-5FBA90960B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ECF746C-1E10-9F76-492B-9DD02311DB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796498-83FB-75D7-A9E4-6BEC3C21F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DEDB00-CE8C-696E-BBF2-43C8DE0FA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409B6D-7236-8C2F-58A8-C7F75D10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694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DD0496-7DB4-0932-E078-87D05C8D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78F30D-5308-E470-DA2C-0BD5352CA3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12234C-37FE-FF5A-6D3E-88E8649FB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6C760C-1174-297F-DCF3-B438A3833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A11E53-B8FE-669C-8D5E-39AF64158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3825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A9E4A1E-BFD9-F879-C367-F6453A1F3C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1527C87-BE8D-85B1-A828-6A264D76E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4C0B87-C1B7-6F61-7EED-D9A52AC15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4C7E06-537B-F290-43CC-6F1D9D68C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13E246-0E76-9709-4C7A-5C2BCCBD2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0408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CE9ACE-882E-4864-9954-B7C8E3275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20A5C3-985A-9DDB-7FBF-C6BA572DB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5C7037-F3A7-509D-E807-C89F601D66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AF01C-BEA4-094A-98E3-E23B7A7C3377}" type="datetimeFigureOut">
              <a:rPr kumimoji="1" lang="zh-CN" altLang="en-US" smtClean="0"/>
              <a:t>2024/11/1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DC179B-1F8D-B908-6A42-486385E178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8605FB-317E-C215-EFCE-81DE8F548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41032-0F92-7549-AF33-519A96698BC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6948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33559977-02A7-4B89-DB6D-E089974FB068}"/>
              </a:ext>
            </a:extLst>
          </p:cNvPr>
          <p:cNvSpPr/>
          <p:nvPr/>
        </p:nvSpPr>
        <p:spPr>
          <a:xfrm>
            <a:off x="179882" y="824459"/>
            <a:ext cx="11902190" cy="4573374"/>
          </a:xfrm>
          <a:prstGeom prst="roundRect">
            <a:avLst>
              <a:gd name="adj" fmla="val 2863"/>
            </a:avLst>
          </a:prstGeom>
          <a:solidFill>
            <a:srgbClr val="F1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34E22A-8ECA-72D7-854A-E15F5345D40C}"/>
              </a:ext>
            </a:extLst>
          </p:cNvPr>
          <p:cNvSpPr/>
          <p:nvPr/>
        </p:nvSpPr>
        <p:spPr>
          <a:xfrm>
            <a:off x="8256582" y="1021080"/>
            <a:ext cx="3740544" cy="365760"/>
          </a:xfrm>
          <a:prstGeom prst="rect">
            <a:avLst/>
          </a:prstGeom>
          <a:solidFill>
            <a:srgbClr val="528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Unexpected code results</a:t>
            </a:r>
            <a:endParaRPr kumimoji="1" lang="zh-CN" altLang="en-US" sz="1400" dirty="0">
              <a:solidFill>
                <a:schemeClr val="bg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44E72C0-851E-EB24-2DE0-496D22FEF856}"/>
              </a:ext>
            </a:extLst>
          </p:cNvPr>
          <p:cNvSpPr/>
          <p:nvPr/>
        </p:nvSpPr>
        <p:spPr>
          <a:xfrm>
            <a:off x="4341900" y="1021080"/>
            <a:ext cx="3742294" cy="365760"/>
          </a:xfrm>
          <a:prstGeom prst="rect">
            <a:avLst/>
          </a:prstGeom>
          <a:solidFill>
            <a:srgbClr val="2D73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Error messages or logs</a:t>
            </a:r>
            <a:endParaRPr kumimoji="1" lang="zh-CN" altLang="en-US" sz="1400" dirty="0">
              <a:solidFill>
                <a:schemeClr val="bg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6FC96F-BE0E-3B22-E71D-B9A226857CBD}"/>
              </a:ext>
            </a:extLst>
          </p:cNvPr>
          <p:cNvSpPr/>
          <p:nvPr/>
        </p:nvSpPr>
        <p:spPr>
          <a:xfrm>
            <a:off x="404734" y="1021080"/>
            <a:ext cx="3742294" cy="365760"/>
          </a:xfrm>
          <a:prstGeom prst="rect">
            <a:avLst/>
          </a:prstGeom>
          <a:solidFill>
            <a:srgbClr val="C65A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Screenshots</a:t>
            </a:r>
            <a:r>
              <a:rPr kumimoji="1" lang="en-US" altLang="zh-CN" sz="1400" b="1" dirty="0">
                <a:latin typeface="+mn-ea"/>
                <a:cs typeface="Times New Roman" panose="02020603050405020304" pitchFamily="18" charset="0"/>
              </a:rPr>
              <a:t> </a:t>
            </a:r>
            <a:r>
              <a:rPr kumimoji="1" lang="en-US" altLang="zh-CN" sz="1400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of reproduced code</a:t>
            </a:r>
            <a:endParaRPr kumimoji="1" lang="zh-CN" altLang="en-US" sz="1400" dirty="0">
              <a:solidFill>
                <a:schemeClr val="bg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68B89A6E-A314-B620-78FA-88404544E332}"/>
              </a:ext>
            </a:extLst>
          </p:cNvPr>
          <p:cNvSpPr/>
          <p:nvPr/>
        </p:nvSpPr>
        <p:spPr>
          <a:xfrm>
            <a:off x="404734" y="1460168"/>
            <a:ext cx="3742294" cy="3727804"/>
          </a:xfrm>
          <a:prstGeom prst="roundRect">
            <a:avLst>
              <a:gd name="adj" fmla="val 1953"/>
            </a:avLst>
          </a:prstGeom>
          <a:solidFill>
            <a:srgbClr val="FAE6D7"/>
          </a:solidFill>
          <a:ln w="38100">
            <a:solidFill>
              <a:srgbClr val="C55A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12A164DB-576A-1F30-77B9-17DF4F97D71A}"/>
              </a:ext>
            </a:extLst>
          </p:cNvPr>
          <p:cNvSpPr/>
          <p:nvPr/>
        </p:nvSpPr>
        <p:spPr>
          <a:xfrm>
            <a:off x="4341900" y="1460168"/>
            <a:ext cx="3742294" cy="3727804"/>
          </a:xfrm>
          <a:prstGeom prst="roundRect">
            <a:avLst>
              <a:gd name="adj" fmla="val 1953"/>
            </a:avLst>
          </a:prstGeom>
          <a:solidFill>
            <a:srgbClr val="DDECF8"/>
          </a:solidFill>
          <a:ln w="38100">
            <a:solidFill>
              <a:srgbClr val="2F73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A1054988-AFDD-FE77-1D5F-59BD3D674E8A}"/>
              </a:ext>
            </a:extLst>
          </p:cNvPr>
          <p:cNvSpPr/>
          <p:nvPr/>
        </p:nvSpPr>
        <p:spPr>
          <a:xfrm>
            <a:off x="8269824" y="1443743"/>
            <a:ext cx="3742294" cy="3727804"/>
          </a:xfrm>
          <a:prstGeom prst="roundRect">
            <a:avLst>
              <a:gd name="adj" fmla="val 1953"/>
            </a:avLst>
          </a:prstGeom>
          <a:solidFill>
            <a:srgbClr val="E2F1D9"/>
          </a:solidFill>
          <a:ln w="38100">
            <a:solidFill>
              <a:srgbClr val="5382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27A16CD-D176-3D1E-2526-CCEFD99FB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6548" y="3317726"/>
            <a:ext cx="634256" cy="1711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73F102C-35AD-DF8E-CBFA-0D435ECEE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4637" y="3317725"/>
            <a:ext cx="634256" cy="1711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圆角矩形 13">
            <a:extLst>
              <a:ext uri="{FF2B5EF4-FFF2-40B4-BE49-F238E27FC236}">
                <a16:creationId xmlns:a16="http://schemas.microsoft.com/office/drawing/2014/main" id="{CE22CEA3-8F1A-3549-FEBD-C92AEB3A7527}"/>
              </a:ext>
            </a:extLst>
          </p:cNvPr>
          <p:cNvSpPr/>
          <p:nvPr/>
        </p:nvSpPr>
        <p:spPr>
          <a:xfrm>
            <a:off x="8316792" y="1499583"/>
            <a:ext cx="3703068" cy="1025704"/>
          </a:xfrm>
          <a:prstGeom prst="roundRect">
            <a:avLst>
              <a:gd name="adj" fmla="val 553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CN" b="1" dirty="0">
                <a:solidFill>
                  <a:schemeClr val="tx1"/>
                </a:solidFill>
              </a:rPr>
              <a:t>Issue: </a:t>
            </a:r>
            <a:r>
              <a:rPr kumimoji="1" lang="en" altLang="zh-CN" sz="1200" dirty="0">
                <a:solidFill>
                  <a:schemeClr val="tx1"/>
                </a:solidFill>
              </a:rPr>
              <a:t>In v3.3.2, some behaviors of pseudo elements are not as expected, for example, the marker color cannot be changed correctly, while this works correctly in v3.3.1..</a:t>
            </a:r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603A23E-E37B-4367-E382-4A3C30635303}"/>
              </a:ext>
            </a:extLst>
          </p:cNvPr>
          <p:cNvSpPr txBox="1"/>
          <p:nvPr/>
        </p:nvSpPr>
        <p:spPr>
          <a:xfrm>
            <a:off x="8724861" y="2967776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V3.3.1</a:t>
            </a:r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973D3FA-0167-BAA8-DE41-95BB14E21091}"/>
              </a:ext>
            </a:extLst>
          </p:cNvPr>
          <p:cNvSpPr txBox="1"/>
          <p:nvPr/>
        </p:nvSpPr>
        <p:spPr>
          <a:xfrm>
            <a:off x="10646773" y="2958992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V3.3.2</a:t>
            </a:r>
            <a:endParaRPr kumimoji="1" lang="zh-CN" altLang="en-US" dirty="0"/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61707E25-A7C0-8B37-5F61-0AE1474FD0FE}"/>
              </a:ext>
            </a:extLst>
          </p:cNvPr>
          <p:cNvCxnSpPr>
            <a:cxnSpLocks/>
          </p:cNvCxnSpPr>
          <p:nvPr/>
        </p:nvCxnSpPr>
        <p:spPr>
          <a:xfrm>
            <a:off x="9518668" y="4383276"/>
            <a:ext cx="101941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7E8AA970-BBE1-1607-069C-CC1F87B88633}"/>
              </a:ext>
            </a:extLst>
          </p:cNvPr>
          <p:cNvSpPr/>
          <p:nvPr/>
        </p:nvSpPr>
        <p:spPr>
          <a:xfrm>
            <a:off x="8331158" y="1538601"/>
            <a:ext cx="3643108" cy="1112061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6D4EA192-B8A7-4D99-AFFB-54EE1A5ED2B2}"/>
              </a:ext>
            </a:extLst>
          </p:cNvPr>
          <p:cNvSpPr/>
          <p:nvPr/>
        </p:nvSpPr>
        <p:spPr>
          <a:xfrm>
            <a:off x="4354154" y="1499583"/>
            <a:ext cx="3703068" cy="1025704"/>
          </a:xfrm>
          <a:prstGeom prst="roundRect">
            <a:avLst>
              <a:gd name="adj" fmla="val 553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CN" b="1" dirty="0">
                <a:solidFill>
                  <a:schemeClr val="tx1"/>
                </a:solidFill>
              </a:rPr>
              <a:t>Issue: </a:t>
            </a:r>
            <a:r>
              <a:rPr kumimoji="1" lang="en" altLang="zh-CN" sz="1200" dirty="0">
                <a:solidFill>
                  <a:schemeClr val="tx1"/>
                </a:solidFill>
              </a:rPr>
              <a:t>[Bug]: Babel crashes when using await as an identifier in </a:t>
            </a:r>
            <a:r>
              <a:rPr kumimoji="1" lang="en" altLang="zh-CN" sz="1200" dirty="0" err="1">
                <a:solidFill>
                  <a:schemeClr val="tx1"/>
                </a:solidFill>
              </a:rPr>
              <a:t>ForInOfHead</a:t>
            </a:r>
            <a:r>
              <a:rPr kumimoji="1" lang="en" altLang="zh-CN" sz="1200" dirty="0">
                <a:solidFill>
                  <a:schemeClr val="tx1"/>
                </a:solidFill>
              </a:rPr>
              <a:t>. Input code for( await of [1, 2, 3] )  { </a:t>
            </a:r>
            <a:r>
              <a:rPr kumimoji="1" lang="en" altLang="zh-CN" sz="1200" dirty="0" err="1">
                <a:solidFill>
                  <a:schemeClr val="tx1"/>
                </a:solidFill>
              </a:rPr>
              <a:t>console.log</a:t>
            </a:r>
            <a:r>
              <a:rPr kumimoji="1" lang="en" altLang="zh-CN" sz="1200" dirty="0">
                <a:solidFill>
                  <a:schemeClr val="tx1"/>
                </a:solidFill>
              </a:rPr>
              <a:t>(await) } ... However, Babel fails to </a:t>
            </a:r>
            <a:r>
              <a:rPr kumimoji="1" lang="en" altLang="zh-CN" sz="1200" dirty="0" err="1">
                <a:solidFill>
                  <a:schemeClr val="tx1"/>
                </a:solidFill>
              </a:rPr>
              <a:t>transpile</a:t>
            </a:r>
            <a:r>
              <a:rPr kumimoji="1" lang="en" altLang="zh-CN" sz="1200" dirty="0">
                <a:solidFill>
                  <a:schemeClr val="tx1"/>
                </a:solidFill>
              </a:rPr>
              <a:t> the input code: </a:t>
            </a:r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AE77001-8258-056B-DB1C-CC3757834428}"/>
              </a:ext>
            </a:extLst>
          </p:cNvPr>
          <p:cNvSpPr/>
          <p:nvPr/>
        </p:nvSpPr>
        <p:spPr>
          <a:xfrm>
            <a:off x="4368520" y="1538601"/>
            <a:ext cx="3643108" cy="1112063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5DB20BB3-2D78-3280-50EB-B95B0726628D}"/>
              </a:ext>
            </a:extLst>
          </p:cNvPr>
          <p:cNvSpPr/>
          <p:nvPr/>
        </p:nvSpPr>
        <p:spPr>
          <a:xfrm>
            <a:off x="411314" y="1499583"/>
            <a:ext cx="3703068" cy="1025704"/>
          </a:xfrm>
          <a:prstGeom prst="roundRect">
            <a:avLst>
              <a:gd name="adj" fmla="val 553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CN" b="1" dirty="0">
                <a:solidFill>
                  <a:schemeClr val="tx1"/>
                </a:solidFill>
              </a:rPr>
              <a:t>Issue: </a:t>
            </a:r>
            <a:r>
              <a:rPr kumimoji="1" lang="en" altLang="zh-CN" sz="1400" dirty="0">
                <a:solidFill>
                  <a:schemeClr val="tx1"/>
                </a:solidFill>
              </a:rPr>
              <a:t>The function "normalize" with </a:t>
            </a:r>
            <a:r>
              <a:rPr kumimoji="1" lang="en" altLang="zh-CN" sz="1400" dirty="0" err="1">
                <a:solidFill>
                  <a:schemeClr val="tx1"/>
                </a:solidFill>
              </a:rPr>
              <a:t>dataTypes.js</a:t>
            </a:r>
            <a:r>
              <a:rPr kumimoji="1" lang="en" altLang="zh-CN" sz="1400" dirty="0">
                <a:solidFill>
                  <a:schemeClr val="tx1"/>
                </a:solidFill>
              </a:rPr>
              <a:t> leads to errors when using with some plugins like </a:t>
            </a:r>
            <a:r>
              <a:rPr kumimoji="1" lang="en" altLang="zh-CN" sz="1400" dirty="0" err="1">
                <a:solidFill>
                  <a:schemeClr val="tx1"/>
                </a:solidFill>
              </a:rPr>
              <a:t>plaiceholder</a:t>
            </a:r>
            <a:r>
              <a:rPr kumimoji="1" lang="en" altLang="zh-CN" sz="1400" dirty="0">
                <a:solidFill>
                  <a:schemeClr val="tx1"/>
                </a:solidFill>
              </a:rPr>
              <a:t> within 11ty for example ...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23A366C-2DB6-32B0-A26B-36593DF842B2}"/>
              </a:ext>
            </a:extLst>
          </p:cNvPr>
          <p:cNvSpPr/>
          <p:nvPr/>
        </p:nvSpPr>
        <p:spPr>
          <a:xfrm>
            <a:off x="425680" y="1538601"/>
            <a:ext cx="3643108" cy="1112063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32" name="Picture 8" descr="image">
            <a:extLst>
              <a:ext uri="{FF2B5EF4-FFF2-40B4-BE49-F238E27FC236}">
                <a16:creationId xmlns:a16="http://schemas.microsoft.com/office/drawing/2014/main" id="{E7F59D02-128E-CD5B-0AE5-E277DA82B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0149" y="3111146"/>
            <a:ext cx="3651078" cy="1668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rafik">
            <a:extLst>
              <a:ext uri="{FF2B5EF4-FFF2-40B4-BE49-F238E27FC236}">
                <a16:creationId xmlns:a16="http://schemas.microsoft.com/office/drawing/2014/main" id="{4BD8C6FF-6DAC-BF83-3198-B2A2CF1B6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62" y="2860525"/>
            <a:ext cx="3589326" cy="2025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7605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>
            <a:extLst>
              <a:ext uri="{FF2B5EF4-FFF2-40B4-BE49-F238E27FC236}">
                <a16:creationId xmlns:a16="http://schemas.microsoft.com/office/drawing/2014/main" id="{33559977-02A7-4B89-DB6D-E089974FB068}"/>
              </a:ext>
            </a:extLst>
          </p:cNvPr>
          <p:cNvSpPr/>
          <p:nvPr/>
        </p:nvSpPr>
        <p:spPr>
          <a:xfrm>
            <a:off x="179882" y="824459"/>
            <a:ext cx="11902190" cy="4573374"/>
          </a:xfrm>
          <a:prstGeom prst="roundRect">
            <a:avLst>
              <a:gd name="adj" fmla="val 2863"/>
            </a:avLst>
          </a:prstGeom>
          <a:solidFill>
            <a:srgbClr val="F1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34E22A-8ECA-72D7-854A-E15F5345D40C}"/>
              </a:ext>
            </a:extLst>
          </p:cNvPr>
          <p:cNvSpPr/>
          <p:nvPr/>
        </p:nvSpPr>
        <p:spPr>
          <a:xfrm>
            <a:off x="8256582" y="1021080"/>
            <a:ext cx="3740544" cy="365760"/>
          </a:xfrm>
          <a:prstGeom prst="rect">
            <a:avLst/>
          </a:prstGeom>
          <a:solidFill>
            <a:srgbClr val="5282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/>
              <a:t>Unexpected code results</a:t>
            </a:r>
            <a:endParaRPr kumimoji="1" lang="zh-CN" altLang="en-US" sz="1400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44E72C0-851E-EB24-2DE0-496D22FEF856}"/>
              </a:ext>
            </a:extLst>
          </p:cNvPr>
          <p:cNvSpPr/>
          <p:nvPr/>
        </p:nvSpPr>
        <p:spPr>
          <a:xfrm>
            <a:off x="4341900" y="1021080"/>
            <a:ext cx="3742294" cy="365760"/>
          </a:xfrm>
          <a:prstGeom prst="rect">
            <a:avLst/>
          </a:prstGeom>
          <a:solidFill>
            <a:srgbClr val="2D73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/>
              <a:t>Error messages or logs</a:t>
            </a:r>
            <a:endParaRPr kumimoji="1" lang="zh-CN" altLang="en-US" sz="1400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6FC96F-BE0E-3B22-E71D-B9A226857CBD}"/>
              </a:ext>
            </a:extLst>
          </p:cNvPr>
          <p:cNvSpPr/>
          <p:nvPr/>
        </p:nvSpPr>
        <p:spPr>
          <a:xfrm>
            <a:off x="404734" y="1021080"/>
            <a:ext cx="3742294" cy="365760"/>
          </a:xfrm>
          <a:prstGeom prst="rect">
            <a:avLst/>
          </a:prstGeom>
          <a:solidFill>
            <a:srgbClr val="C65A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b="1" dirty="0"/>
              <a:t>Screenshots of reproduced code</a:t>
            </a:r>
            <a:endParaRPr kumimoji="1" lang="zh-CN" altLang="en-US" sz="1400" b="1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68B89A6E-A314-B620-78FA-88404544E332}"/>
              </a:ext>
            </a:extLst>
          </p:cNvPr>
          <p:cNvSpPr/>
          <p:nvPr/>
        </p:nvSpPr>
        <p:spPr>
          <a:xfrm>
            <a:off x="404734" y="1460168"/>
            <a:ext cx="3742294" cy="3727804"/>
          </a:xfrm>
          <a:prstGeom prst="roundRect">
            <a:avLst>
              <a:gd name="adj" fmla="val 1953"/>
            </a:avLst>
          </a:prstGeom>
          <a:solidFill>
            <a:srgbClr val="FAE6D7"/>
          </a:solidFill>
          <a:ln w="38100">
            <a:solidFill>
              <a:srgbClr val="C55A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12A164DB-576A-1F30-77B9-17DF4F97D71A}"/>
              </a:ext>
            </a:extLst>
          </p:cNvPr>
          <p:cNvSpPr/>
          <p:nvPr/>
        </p:nvSpPr>
        <p:spPr>
          <a:xfrm>
            <a:off x="4341900" y="1460168"/>
            <a:ext cx="3742294" cy="3727804"/>
          </a:xfrm>
          <a:prstGeom prst="roundRect">
            <a:avLst>
              <a:gd name="adj" fmla="val 1953"/>
            </a:avLst>
          </a:prstGeom>
          <a:solidFill>
            <a:srgbClr val="DDECF8"/>
          </a:solidFill>
          <a:ln w="38100">
            <a:solidFill>
              <a:srgbClr val="2F73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A1054988-AFDD-FE77-1D5F-59BD3D674E8A}"/>
              </a:ext>
            </a:extLst>
          </p:cNvPr>
          <p:cNvSpPr/>
          <p:nvPr/>
        </p:nvSpPr>
        <p:spPr>
          <a:xfrm>
            <a:off x="8269824" y="1443743"/>
            <a:ext cx="3742294" cy="3727804"/>
          </a:xfrm>
          <a:prstGeom prst="roundRect">
            <a:avLst>
              <a:gd name="adj" fmla="val 1953"/>
            </a:avLst>
          </a:prstGeom>
          <a:solidFill>
            <a:srgbClr val="E2F1D9"/>
          </a:solidFill>
          <a:ln w="38100">
            <a:solidFill>
              <a:srgbClr val="5382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27A16CD-D176-3D1E-2526-CCEFD99FB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6548" y="3317726"/>
            <a:ext cx="634256" cy="1711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73F102C-35AD-DF8E-CBFA-0D435ECEE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4637" y="3317725"/>
            <a:ext cx="634256" cy="1711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圆角矩形 13">
            <a:extLst>
              <a:ext uri="{FF2B5EF4-FFF2-40B4-BE49-F238E27FC236}">
                <a16:creationId xmlns:a16="http://schemas.microsoft.com/office/drawing/2014/main" id="{CE22CEA3-8F1A-3549-FEBD-C92AEB3A7527}"/>
              </a:ext>
            </a:extLst>
          </p:cNvPr>
          <p:cNvSpPr/>
          <p:nvPr/>
        </p:nvSpPr>
        <p:spPr>
          <a:xfrm>
            <a:off x="8316792" y="1499583"/>
            <a:ext cx="3703068" cy="1025704"/>
          </a:xfrm>
          <a:prstGeom prst="roundRect">
            <a:avLst>
              <a:gd name="adj" fmla="val 553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CN" b="1" dirty="0">
                <a:solidFill>
                  <a:schemeClr val="tx1"/>
                </a:solidFill>
              </a:rPr>
              <a:t>Issue: </a:t>
            </a:r>
            <a:r>
              <a:rPr kumimoji="1" lang="en" altLang="zh-CN" sz="1200" dirty="0">
                <a:solidFill>
                  <a:schemeClr val="tx1"/>
                </a:solidFill>
              </a:rPr>
              <a:t>In v3.3.2, some behaviors of pseudo elements are not as expected, for example, the marker color cannot be changed correctly, while this works correctly in v3.3.1..</a:t>
            </a:r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603A23E-E37B-4367-E382-4A3C30635303}"/>
              </a:ext>
            </a:extLst>
          </p:cNvPr>
          <p:cNvSpPr txBox="1"/>
          <p:nvPr/>
        </p:nvSpPr>
        <p:spPr>
          <a:xfrm>
            <a:off x="8724861" y="2967776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V3.3.1</a:t>
            </a:r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973D3FA-0167-BAA8-DE41-95BB14E21091}"/>
              </a:ext>
            </a:extLst>
          </p:cNvPr>
          <p:cNvSpPr txBox="1"/>
          <p:nvPr/>
        </p:nvSpPr>
        <p:spPr>
          <a:xfrm>
            <a:off x="10646773" y="2958992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V3.3.2</a:t>
            </a:r>
            <a:endParaRPr kumimoji="1" lang="zh-CN" altLang="en-US" dirty="0"/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61707E25-A7C0-8B37-5F61-0AE1474FD0FE}"/>
              </a:ext>
            </a:extLst>
          </p:cNvPr>
          <p:cNvCxnSpPr>
            <a:cxnSpLocks/>
          </p:cNvCxnSpPr>
          <p:nvPr/>
        </p:nvCxnSpPr>
        <p:spPr>
          <a:xfrm>
            <a:off x="9518668" y="4383276"/>
            <a:ext cx="1019417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7E8AA970-BBE1-1607-069C-CC1F87B88633}"/>
              </a:ext>
            </a:extLst>
          </p:cNvPr>
          <p:cNvSpPr/>
          <p:nvPr/>
        </p:nvSpPr>
        <p:spPr>
          <a:xfrm>
            <a:off x="8331158" y="1538601"/>
            <a:ext cx="3643108" cy="1112061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6D4EA192-B8A7-4D99-AFFB-54EE1A5ED2B2}"/>
              </a:ext>
            </a:extLst>
          </p:cNvPr>
          <p:cNvSpPr/>
          <p:nvPr/>
        </p:nvSpPr>
        <p:spPr>
          <a:xfrm>
            <a:off x="4354154" y="1499583"/>
            <a:ext cx="3703068" cy="1025704"/>
          </a:xfrm>
          <a:prstGeom prst="roundRect">
            <a:avLst>
              <a:gd name="adj" fmla="val 553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CN" b="1" dirty="0">
                <a:solidFill>
                  <a:schemeClr val="tx1"/>
                </a:solidFill>
              </a:rPr>
              <a:t>Issue: </a:t>
            </a:r>
            <a:r>
              <a:rPr kumimoji="1" lang="en" altLang="zh-CN" sz="1200" dirty="0">
                <a:solidFill>
                  <a:schemeClr val="tx1"/>
                </a:solidFill>
              </a:rPr>
              <a:t>[Bug]: Babel crashes when using await as an identifier in </a:t>
            </a:r>
            <a:r>
              <a:rPr kumimoji="1" lang="en" altLang="zh-CN" sz="1200" dirty="0" err="1">
                <a:solidFill>
                  <a:schemeClr val="tx1"/>
                </a:solidFill>
              </a:rPr>
              <a:t>ForInOfHead</a:t>
            </a:r>
            <a:r>
              <a:rPr kumimoji="1" lang="en" altLang="zh-CN" sz="1200" dirty="0">
                <a:solidFill>
                  <a:schemeClr val="tx1"/>
                </a:solidFill>
              </a:rPr>
              <a:t>. Input code for( await of [1, 2, 3] )  { </a:t>
            </a:r>
            <a:r>
              <a:rPr kumimoji="1" lang="en" altLang="zh-CN" sz="1200" dirty="0" err="1">
                <a:solidFill>
                  <a:schemeClr val="tx1"/>
                </a:solidFill>
              </a:rPr>
              <a:t>console.log</a:t>
            </a:r>
            <a:r>
              <a:rPr kumimoji="1" lang="en" altLang="zh-CN" sz="1200" dirty="0">
                <a:solidFill>
                  <a:schemeClr val="tx1"/>
                </a:solidFill>
              </a:rPr>
              <a:t>(await) } ... However, Babel fails to </a:t>
            </a:r>
            <a:r>
              <a:rPr kumimoji="1" lang="en" altLang="zh-CN" sz="1200" dirty="0" err="1">
                <a:solidFill>
                  <a:schemeClr val="tx1"/>
                </a:solidFill>
              </a:rPr>
              <a:t>transpile</a:t>
            </a:r>
            <a:r>
              <a:rPr kumimoji="1" lang="en" altLang="zh-CN" sz="1200" dirty="0">
                <a:solidFill>
                  <a:schemeClr val="tx1"/>
                </a:solidFill>
              </a:rPr>
              <a:t> the input code: </a:t>
            </a:r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AE77001-8258-056B-DB1C-CC3757834428}"/>
              </a:ext>
            </a:extLst>
          </p:cNvPr>
          <p:cNvSpPr/>
          <p:nvPr/>
        </p:nvSpPr>
        <p:spPr>
          <a:xfrm>
            <a:off x="4368520" y="1538601"/>
            <a:ext cx="3643108" cy="1112063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5DB20BB3-2D78-3280-50EB-B95B0726628D}"/>
              </a:ext>
            </a:extLst>
          </p:cNvPr>
          <p:cNvSpPr/>
          <p:nvPr/>
        </p:nvSpPr>
        <p:spPr>
          <a:xfrm>
            <a:off x="411314" y="1499583"/>
            <a:ext cx="3703068" cy="1025704"/>
          </a:xfrm>
          <a:prstGeom prst="roundRect">
            <a:avLst>
              <a:gd name="adj" fmla="val 5530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CN" b="1" dirty="0">
                <a:solidFill>
                  <a:schemeClr val="tx1"/>
                </a:solidFill>
              </a:rPr>
              <a:t>Issue: </a:t>
            </a:r>
            <a:r>
              <a:rPr kumimoji="1" lang="en" altLang="zh-CN" sz="1400" dirty="0">
                <a:solidFill>
                  <a:schemeClr val="tx1"/>
                </a:solidFill>
              </a:rPr>
              <a:t>The function "normalize" with </a:t>
            </a:r>
            <a:r>
              <a:rPr kumimoji="1" lang="en" altLang="zh-CN" sz="1400" dirty="0" err="1">
                <a:solidFill>
                  <a:schemeClr val="tx1"/>
                </a:solidFill>
              </a:rPr>
              <a:t>dataTypes.js</a:t>
            </a:r>
            <a:r>
              <a:rPr kumimoji="1" lang="en" altLang="zh-CN" sz="1400" dirty="0">
                <a:solidFill>
                  <a:schemeClr val="tx1"/>
                </a:solidFill>
              </a:rPr>
              <a:t> leads to errors when using with some plugins like </a:t>
            </a:r>
            <a:r>
              <a:rPr kumimoji="1" lang="en" altLang="zh-CN" sz="1400" dirty="0" err="1">
                <a:solidFill>
                  <a:schemeClr val="tx1"/>
                </a:solidFill>
              </a:rPr>
              <a:t>plaiceholder</a:t>
            </a:r>
            <a:r>
              <a:rPr kumimoji="1" lang="en" altLang="zh-CN" sz="1400" dirty="0">
                <a:solidFill>
                  <a:schemeClr val="tx1"/>
                </a:solidFill>
              </a:rPr>
              <a:t> within 11ty for example ...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23A366C-2DB6-32B0-A26B-36593DF842B2}"/>
              </a:ext>
            </a:extLst>
          </p:cNvPr>
          <p:cNvSpPr/>
          <p:nvPr/>
        </p:nvSpPr>
        <p:spPr>
          <a:xfrm>
            <a:off x="425680" y="1538601"/>
            <a:ext cx="3643108" cy="1112063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32" name="Picture 8" descr="image">
            <a:extLst>
              <a:ext uri="{FF2B5EF4-FFF2-40B4-BE49-F238E27FC236}">
                <a16:creationId xmlns:a16="http://schemas.microsoft.com/office/drawing/2014/main" id="{E7F59D02-128E-CD5B-0AE5-E277DA82B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0149" y="3111146"/>
            <a:ext cx="3651078" cy="1668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rafik">
            <a:extLst>
              <a:ext uri="{FF2B5EF4-FFF2-40B4-BE49-F238E27FC236}">
                <a16:creationId xmlns:a16="http://schemas.microsoft.com/office/drawing/2014/main" id="{4BD8C6FF-6DAC-BF83-3198-B2A2CF1B6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62" y="2860525"/>
            <a:ext cx="3589326" cy="2025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058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8310D-CAF6-3DA6-A837-8AA7B5289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A55F2B3-C699-AD18-4D3B-1A8EA03AFE79}"/>
              </a:ext>
            </a:extLst>
          </p:cNvPr>
          <p:cNvSpPr/>
          <p:nvPr/>
        </p:nvSpPr>
        <p:spPr>
          <a:xfrm>
            <a:off x="8183430" y="1021080"/>
            <a:ext cx="3740544" cy="365760"/>
          </a:xfrm>
          <a:prstGeom prst="rect">
            <a:avLst/>
          </a:prstGeom>
          <a:solidFill>
            <a:srgbClr val="002060">
              <a:alpha val="2295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(c)</a:t>
            </a:r>
            <a:r>
              <a:rPr kumimoji="1"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Unexpected code results</a:t>
            </a:r>
            <a:endParaRPr kumimoji="1"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1C72B2F-0098-2646-6B6D-B710064234BE}"/>
              </a:ext>
            </a:extLst>
          </p:cNvPr>
          <p:cNvSpPr/>
          <p:nvPr/>
        </p:nvSpPr>
        <p:spPr>
          <a:xfrm>
            <a:off x="4268748" y="1021080"/>
            <a:ext cx="3742294" cy="365760"/>
          </a:xfrm>
          <a:prstGeom prst="rect">
            <a:avLst/>
          </a:prstGeom>
          <a:solidFill>
            <a:srgbClr val="002060">
              <a:alpha val="2295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(b)</a:t>
            </a:r>
            <a:r>
              <a:rPr kumimoji="1"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Error messages or logs</a:t>
            </a:r>
            <a:endParaRPr kumimoji="1"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2CEA0B-9B06-BCC5-24AB-0D6D462A14D1}"/>
              </a:ext>
            </a:extLst>
          </p:cNvPr>
          <p:cNvSpPr/>
          <p:nvPr/>
        </p:nvSpPr>
        <p:spPr>
          <a:xfrm>
            <a:off x="331582" y="1021080"/>
            <a:ext cx="3742294" cy="365760"/>
          </a:xfrm>
          <a:prstGeom prst="rect">
            <a:avLst/>
          </a:prstGeom>
          <a:solidFill>
            <a:srgbClr val="002060">
              <a:alpha val="2295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a)</a:t>
            </a:r>
            <a:r>
              <a:rPr kumimoji="1"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Screenshots of reproduced code</a:t>
            </a:r>
            <a:endParaRPr kumimoji="1"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6B6503AF-DDF4-2C13-D626-84001EBA7D1C}"/>
              </a:ext>
            </a:extLst>
          </p:cNvPr>
          <p:cNvSpPr/>
          <p:nvPr/>
        </p:nvSpPr>
        <p:spPr>
          <a:xfrm>
            <a:off x="331582" y="1460169"/>
            <a:ext cx="3742294" cy="3177146"/>
          </a:xfrm>
          <a:prstGeom prst="roundRect">
            <a:avLst>
              <a:gd name="adj" fmla="val 1953"/>
            </a:avLst>
          </a:prstGeom>
          <a:solidFill>
            <a:srgbClr val="002060">
              <a:alpha val="2345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D2B631F5-37BD-7240-88C8-E898B35A8CAF}"/>
              </a:ext>
            </a:extLst>
          </p:cNvPr>
          <p:cNvSpPr/>
          <p:nvPr/>
        </p:nvSpPr>
        <p:spPr>
          <a:xfrm>
            <a:off x="4268748" y="1460168"/>
            <a:ext cx="3742294" cy="3177146"/>
          </a:xfrm>
          <a:prstGeom prst="roundRect">
            <a:avLst>
              <a:gd name="adj" fmla="val 1953"/>
            </a:avLst>
          </a:prstGeom>
          <a:solidFill>
            <a:srgbClr val="002060">
              <a:alpha val="2345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9A4951C7-521E-ADF6-1787-A5525E193DCD}"/>
              </a:ext>
            </a:extLst>
          </p:cNvPr>
          <p:cNvSpPr/>
          <p:nvPr/>
        </p:nvSpPr>
        <p:spPr>
          <a:xfrm>
            <a:off x="8196672" y="1443743"/>
            <a:ext cx="3742294" cy="3193571"/>
          </a:xfrm>
          <a:prstGeom prst="roundRect">
            <a:avLst>
              <a:gd name="adj" fmla="val 1953"/>
            </a:avLst>
          </a:prstGeom>
          <a:solidFill>
            <a:srgbClr val="002060">
              <a:alpha val="2345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B3E9981-55F0-7DE7-0AD9-DA8128058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4643" y="2911525"/>
            <a:ext cx="454672" cy="1582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D9B5D26-849F-8943-E99E-88F4BB910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2103" y="2897628"/>
            <a:ext cx="454671" cy="1582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圆角矩形 13">
            <a:extLst>
              <a:ext uri="{FF2B5EF4-FFF2-40B4-BE49-F238E27FC236}">
                <a16:creationId xmlns:a16="http://schemas.microsoft.com/office/drawing/2014/main" id="{DA37BAAD-3741-115F-3910-98C2862FD622}"/>
              </a:ext>
            </a:extLst>
          </p:cNvPr>
          <p:cNvSpPr/>
          <p:nvPr/>
        </p:nvSpPr>
        <p:spPr>
          <a:xfrm>
            <a:off x="8271661" y="1508027"/>
            <a:ext cx="3549792" cy="1083619"/>
          </a:xfrm>
          <a:prstGeom prst="roundRect">
            <a:avLst>
              <a:gd name="adj" fmla="val 16228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Issue</a:t>
            </a:r>
            <a:r>
              <a:rPr kumimoji="1" lang="en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1" lang="en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v3.3.2, some behaviors of pseudo elements are not as expected, for example, the marker color cannot be changed correctly, while this works correctly in v3.3.1..</a:t>
            </a:r>
            <a:endParaRPr kumimoji="1"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DBDCBCD-B146-E4E1-8983-437C38197621}"/>
              </a:ext>
            </a:extLst>
          </p:cNvPr>
          <p:cNvSpPr txBox="1"/>
          <p:nvPr/>
        </p:nvSpPr>
        <p:spPr>
          <a:xfrm>
            <a:off x="8651709" y="2537080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V3.3.1</a:t>
            </a:r>
            <a:endParaRPr kumimoji="1"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057C665-A3D5-5DFF-9273-6B04777B8DFE}"/>
              </a:ext>
            </a:extLst>
          </p:cNvPr>
          <p:cNvSpPr txBox="1"/>
          <p:nvPr/>
        </p:nvSpPr>
        <p:spPr>
          <a:xfrm>
            <a:off x="10573621" y="2528296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V3.3.2</a:t>
            </a:r>
            <a:endParaRPr kumimoji="1"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98D7F4F7-8872-093B-3649-B21D5D4A8EA0}"/>
              </a:ext>
            </a:extLst>
          </p:cNvPr>
          <p:cNvCxnSpPr>
            <a:cxnSpLocks/>
          </p:cNvCxnSpPr>
          <p:nvPr/>
        </p:nvCxnSpPr>
        <p:spPr>
          <a:xfrm>
            <a:off x="9543993" y="3586820"/>
            <a:ext cx="101941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8E134A84-7632-6CFD-49CF-377DC71643BC}"/>
              </a:ext>
            </a:extLst>
          </p:cNvPr>
          <p:cNvSpPr/>
          <p:nvPr/>
        </p:nvSpPr>
        <p:spPr>
          <a:xfrm>
            <a:off x="4322732" y="1515839"/>
            <a:ext cx="3625085" cy="1321306"/>
          </a:xfrm>
          <a:prstGeom prst="roundRect">
            <a:avLst>
              <a:gd name="adj" fmla="val 17416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Issue</a:t>
            </a:r>
            <a:r>
              <a:rPr kumimoji="1" lang="en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1" lang="en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[Bug]: Babel crashes when using await as an identifier in </a:t>
            </a:r>
            <a:r>
              <a:rPr kumimoji="1" lang="en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ForInOfHead</a:t>
            </a:r>
            <a:r>
              <a:rPr kumimoji="1" lang="en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Input code for( await of [1, 2, 3] )  { </a:t>
            </a:r>
            <a:r>
              <a:rPr kumimoji="1" lang="en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console.log</a:t>
            </a:r>
            <a:r>
              <a:rPr kumimoji="1"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(await) } ... However, Babel fails to </a:t>
            </a:r>
            <a:r>
              <a:rPr kumimoji="1" lang="en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transpile</a:t>
            </a:r>
            <a:r>
              <a:rPr kumimoji="1" lang="en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input code: </a:t>
            </a:r>
            <a:endParaRPr kumimoji="1"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BFF62F4B-D41D-7244-10C3-F1E1EC233176}"/>
              </a:ext>
            </a:extLst>
          </p:cNvPr>
          <p:cNvSpPr/>
          <p:nvPr/>
        </p:nvSpPr>
        <p:spPr>
          <a:xfrm>
            <a:off x="412687" y="1515839"/>
            <a:ext cx="3589326" cy="1025704"/>
          </a:xfrm>
          <a:prstGeom prst="roundRect">
            <a:avLst>
              <a:gd name="adj" fmla="val 15039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Issue</a:t>
            </a:r>
            <a:r>
              <a:rPr kumimoji="1" lang="en" altLang="zh-C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1" lang="en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function "normalize" with </a:t>
            </a:r>
            <a:r>
              <a:rPr kumimoji="1" lang="en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dataTypes.js</a:t>
            </a:r>
            <a:r>
              <a:rPr kumimoji="1" lang="en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leads to errors when using with some plugins like </a:t>
            </a:r>
            <a:r>
              <a:rPr kumimoji="1" lang="en" altLang="zh-C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plaiceholder</a:t>
            </a:r>
            <a:r>
              <a:rPr kumimoji="1" lang="en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within 11ty for example ...</a:t>
            </a:r>
            <a:endParaRPr kumimoji="1"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2" name="Picture 8" descr="image">
            <a:extLst>
              <a:ext uri="{FF2B5EF4-FFF2-40B4-BE49-F238E27FC236}">
                <a16:creationId xmlns:a16="http://schemas.microsoft.com/office/drawing/2014/main" id="{F1F22917-6268-778C-5B17-5F752964EA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0349" y="3358896"/>
            <a:ext cx="3599092" cy="839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rafik">
            <a:extLst>
              <a:ext uri="{FF2B5EF4-FFF2-40B4-BE49-F238E27FC236}">
                <a16:creationId xmlns:a16="http://schemas.microsoft.com/office/drawing/2014/main" id="{59825D61-BAF1-5EC1-A9A0-F72F9E202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46" y="2542784"/>
            <a:ext cx="3490518" cy="1969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7360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16388</TotalTime>
  <Words>376</Words>
  <Application>Microsoft Macintosh PowerPoint</Application>
  <PresentationFormat>Widescreen</PresentationFormat>
  <Paragraphs>28</Paragraphs>
  <Slides>3</Slides>
  <Notes>3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Arial</vt:lpstr>
      <vt:lpstr>Times New Roman</vt:lpstr>
      <vt:lpstr>Office 主题​​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亮宏 郭</dc:creator>
  <cp:lastModifiedBy>Yanlin Wang</cp:lastModifiedBy>
  <cp:revision>79</cp:revision>
  <dcterms:created xsi:type="dcterms:W3CDTF">2024-10-13T15:23:45Z</dcterms:created>
  <dcterms:modified xsi:type="dcterms:W3CDTF">2024-10-31T18:35:14Z</dcterms:modified>
</cp:coreProperties>
</file>