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68" r:id="rId3"/>
    <p:sldId id="269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35CC6"/>
    <a:srgbClr val="C00000"/>
    <a:srgbClr val="D7DFE6"/>
    <a:srgbClr val="1F6CC4"/>
    <a:srgbClr val="D8E0E6"/>
    <a:srgbClr val="083067"/>
    <a:srgbClr val="072F69"/>
    <a:srgbClr val="89B4CF"/>
    <a:srgbClr val="6E43BF"/>
    <a:srgbClr val="DAFB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38"/>
    <p:restoredTop sz="94722"/>
  </p:normalViewPr>
  <p:slideViewPr>
    <p:cSldViewPr snapToGrid="0">
      <p:cViewPr>
        <p:scale>
          <a:sx n="118" d="100"/>
          <a:sy n="118" d="100"/>
        </p:scale>
        <p:origin x="816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1AB0DB-98C9-0A40-8C7F-0CDB819CB832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23E84C-F390-2C4E-B4E7-2DF9EDA9676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25227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v1</a:t>
            </a:r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3E84C-F390-2C4E-B4E7-2DF9EDA96761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67091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v2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3E84C-F390-2C4E-B4E7-2DF9EDA96761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15509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v3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3E84C-F390-2C4E-B4E7-2DF9EDA96761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79084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602D3D-3C03-25FB-5CFB-DD8FC0D216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32C8A78-6184-7971-3E10-222B9392DF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C7C4E8-B3F0-B14F-BA18-AB358DF01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7F1643-D555-0E54-B817-1D5B18BD5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FC94CB-717E-0BA5-C158-E51101115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15352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88EF63-F747-8148-E0FC-FD7BFCAF6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7A60A1-833D-4856-4F45-CD897E8D0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668026-248E-6431-4003-0F7DE63BE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795BDB-1E90-AE71-860E-5A516612E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592E14-60F6-9198-16D0-ED1C78AEC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50550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DCF0E1-30B4-5BF1-F445-9DA35D0D6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4C208E-A6BC-5248-20A1-428B907C7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8ECD74-5BE4-1FA1-77FF-B4073CB63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65681F-35B0-B930-889E-80E4BDBD7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1150BE-39B6-39E7-9482-C7E92CB40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76742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D852D9-9569-4A09-EF6C-AE854F270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E8F5C2-FB2C-B752-A82B-C324E48F15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58B995A-15E0-46A1-15FE-2AED4F56A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DE86D7A-F09E-A9D6-7566-7A3856A01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4064FA8-E352-2B96-B2F5-178004D32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2538B8C-DE82-3A0C-5571-C1E142880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76793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34EA53-60D3-BD4E-FC8B-0345CE137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7EE235-99D9-1C80-82EB-015033805D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DF1A8BA-977E-F609-FD54-6D8DFB9107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450A95C-9C50-7609-0AF5-0A318452A5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14E05A9-63F8-0B56-6EB9-C17B74ADBE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F075B0C-EEC0-9B7A-A6E9-5B461896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B99A2C8-1669-FCA2-A191-6F48CF81A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CFBAC36-604E-6B33-E16F-59A62887D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67031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319630-C3C5-60E4-6D94-7F396885C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E564125-6218-FBD0-9366-5E61F632A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F01713F-1CE4-638D-00CA-FDD26E5EE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0A80C8C-E40D-C74C-0237-10993DADD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83505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5CCAC2C-5DA6-FFD5-D64D-773B06781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A34ADED-C821-8B18-7A0F-30FFA5A6B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0358FA-7C26-63F7-80AD-0CB7906DA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31660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78EADB-2466-32D8-526F-BBDA1EB7E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A0727B-F6DA-870A-1634-0CA6EF650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C588C22-F9B9-3CD7-3461-ED38584E6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8BD0A78-0B89-FE0D-CD15-51B40D79F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B2233C-25E9-1ABB-8EEF-851D00029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BECE572-760E-AC40-9EBE-2286B862B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31110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D7F59F-7997-785F-4EC4-F8B3BB8C2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7C23628-EC96-C08B-AE46-5FBA90960B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ECF746C-1E10-9F76-492B-9DD02311DB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9796498-83FB-75D7-A9E4-6BEC3C21F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DEDB00-CE8C-696E-BBF2-43C8DE0FA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4409B6D-7236-8C2F-58A8-C7F75D108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96948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DD0496-7DB4-0932-E078-87D05C8D6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B78F30D-5308-E470-DA2C-0BD5352CA3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12234C-37FE-FF5A-6D3E-88E8649FB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6C760C-1174-297F-DCF3-B438A3833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A11E53-B8FE-669C-8D5E-39AF64158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33825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A9E4A1E-BFD9-F879-C367-F6453A1F3C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1527C87-BE8D-85B1-A828-6A264D76E2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4C0B87-C1B7-6F61-7EED-D9A52AC15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4C7E06-537B-F290-43CC-6F1D9D68C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13E246-0E76-9709-4C7A-5C2BCCBD2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50408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FCE9ACE-882E-4864-9954-B7C8E3275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420A5C3-985A-9DDB-7FBF-C6BA572DB7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5C7037-F3A7-509D-E807-C89F601D66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DC179B-1F8D-B908-6A42-486385E178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8605FB-317E-C215-EFCE-81DE8F5485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6948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129">
            <a:extLst>
              <a:ext uri="{FF2B5EF4-FFF2-40B4-BE49-F238E27FC236}">
                <a16:creationId xmlns:a16="http://schemas.microsoft.com/office/drawing/2014/main" id="{0BE1779F-67DD-C2FB-5ECF-D77E14A99DF3}"/>
              </a:ext>
            </a:extLst>
          </p:cNvPr>
          <p:cNvSpPr/>
          <p:nvPr/>
        </p:nvSpPr>
        <p:spPr>
          <a:xfrm>
            <a:off x="914235" y="592016"/>
            <a:ext cx="10532993" cy="5323010"/>
          </a:xfrm>
          <a:prstGeom prst="roundRect">
            <a:avLst>
              <a:gd name="adj" fmla="val 5285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97540578-8C01-654F-20BE-F4BD9B97CDCA}"/>
              </a:ext>
            </a:extLst>
          </p:cNvPr>
          <p:cNvSpPr/>
          <p:nvPr/>
        </p:nvSpPr>
        <p:spPr>
          <a:xfrm>
            <a:off x="1537275" y="1378845"/>
            <a:ext cx="2028093" cy="911590"/>
          </a:xfrm>
          <a:prstGeom prst="roundRect">
            <a:avLst>
              <a:gd name="adj" fmla="val 10952"/>
            </a:avLst>
          </a:prstGeom>
          <a:solidFill>
            <a:srgbClr val="F5CCCE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B057826-B426-C589-1263-291F60DAD7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924" y="1466770"/>
            <a:ext cx="275490" cy="275490"/>
          </a:xfrm>
          <a:prstGeom prst="rect">
            <a:avLst/>
          </a:prstGeom>
          <a:noFill/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08D3FA8-E4A0-FC3D-70BE-CE866631E52F}"/>
              </a:ext>
            </a:extLst>
          </p:cNvPr>
          <p:cNvSpPr txBox="1"/>
          <p:nvPr/>
        </p:nvSpPr>
        <p:spPr>
          <a:xfrm>
            <a:off x="1824857" y="1416183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Issue: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02D796A2-C03B-8941-98F7-E3C4FCF0C2C8}"/>
              </a:ext>
            </a:extLst>
          </p:cNvPr>
          <p:cNvCxnSpPr>
            <a:cxnSpLocks/>
          </p:cNvCxnSpPr>
          <p:nvPr/>
        </p:nvCxnSpPr>
        <p:spPr>
          <a:xfrm>
            <a:off x="3689925" y="1834640"/>
            <a:ext cx="1708709" cy="0"/>
          </a:xfrm>
          <a:prstGeom prst="straightConnector1">
            <a:avLst/>
          </a:prstGeom>
          <a:ln w="60325">
            <a:headEnd w="lg" len="lg"/>
            <a:tailEnd type="triangle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E4213A94-C794-E665-7614-FEFA14513D64}"/>
              </a:ext>
            </a:extLst>
          </p:cNvPr>
          <p:cNvSpPr txBox="1"/>
          <p:nvPr/>
        </p:nvSpPr>
        <p:spPr>
          <a:xfrm>
            <a:off x="1537275" y="1785515"/>
            <a:ext cx="20280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i="1" dirty="0">
                <a:latin typeface="Arial" panose="020B0604020202020204" pitchFamily="34" charset="0"/>
                <a:ea typeface="Apple Symbols" panose="02000000000000000000" pitchFamily="2" charset="-79"/>
                <a:cs typeface="Arial" panose="020B0604020202020204" pitchFamily="34" charset="0"/>
              </a:rPr>
              <a:t>@apply</a:t>
            </a:r>
            <a:r>
              <a:rPr lang="en-US" altLang="zh-CN" sz="1200" b="1" i="1" dirty="0">
                <a:latin typeface="Arial" panose="020B0604020202020204" pitchFamily="34" charset="0"/>
                <a:ea typeface="Apple Symbols" panose="02000000000000000000" pitchFamily="2" charset="-79"/>
                <a:cs typeface="Arial" panose="020B0604020202020204" pitchFamily="34" charset="0"/>
              </a:rPr>
              <a:t> </a:t>
            </a:r>
            <a:r>
              <a:rPr lang="zh-CN" altLang="en-US" sz="1200" b="1" i="1" dirty="0">
                <a:latin typeface="Arial" panose="020B0604020202020204" pitchFamily="34" charset="0"/>
                <a:ea typeface="Apple Symbols" panose="02000000000000000000" pitchFamily="2" charset="-79"/>
                <a:cs typeface="Arial" panose="020B0604020202020204" pitchFamily="34" charset="0"/>
              </a:rPr>
              <a:t>method is</a:t>
            </a:r>
            <a:r>
              <a:rPr lang="en-US" altLang="zh-CN" sz="1200" b="1" i="1" dirty="0">
                <a:latin typeface="Arial" panose="020B0604020202020204" pitchFamily="34" charset="0"/>
                <a:ea typeface="Apple Symbols" panose="02000000000000000000" pitchFamily="2" charset="-79"/>
                <a:cs typeface="Arial" panose="020B0604020202020204" pitchFamily="34" charset="0"/>
              </a:rPr>
              <a:t> </a:t>
            </a:r>
            <a:r>
              <a:rPr lang="zh-CN" altLang="en-US" sz="1200" b="1" i="1" dirty="0">
                <a:latin typeface="Arial" panose="020B0604020202020204" pitchFamily="34" charset="0"/>
                <a:ea typeface="Apple Symbols" panose="02000000000000000000" pitchFamily="2" charset="-79"/>
                <a:cs typeface="Arial" panose="020B0604020202020204" pitchFamily="34" charset="0"/>
              </a:rPr>
              <a:t>invalid after upgrade to 3.3.1</a:t>
            </a:r>
            <a:r>
              <a:rPr lang="en-US" altLang="zh-CN" sz="1200" b="1" i="1" dirty="0">
                <a:latin typeface="Arial" panose="020B0604020202020204" pitchFamily="34" charset="0"/>
                <a:ea typeface="Apple Symbols" panose="02000000000000000000" pitchFamily="2" charset="-79"/>
                <a:cs typeface="Arial" panose="020B0604020202020204" pitchFamily="34" charset="0"/>
              </a:rPr>
              <a:t>…</a:t>
            </a:r>
            <a:r>
              <a:rPr lang="zh-CN" altLang="en-US" sz="1200" b="1" i="1" dirty="0">
                <a:latin typeface="Arial" panose="020B0604020202020204" pitchFamily="34" charset="0"/>
                <a:ea typeface="Apple Symbols" panose="02000000000000000000" pitchFamily="2" charset="-79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FC59DFD8-4319-900F-C26E-33D99A027B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0049" y="1609768"/>
            <a:ext cx="680667" cy="680667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109FC951-5859-8CE0-FCA0-FB73770D2BE4}"/>
              </a:ext>
            </a:extLst>
          </p:cNvPr>
          <p:cNvSpPr txBox="1"/>
          <p:nvPr/>
        </p:nvSpPr>
        <p:spPr>
          <a:xfrm>
            <a:off x="5560049" y="1326069"/>
            <a:ext cx="6206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LLM</a:t>
            </a:r>
            <a:endParaRPr kumimoji="1" lang="zh-CN" altLang="en-US" sz="1600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1A1833BD-1C4A-D490-9125-7C7BFBE14CD1}"/>
              </a:ext>
            </a:extLst>
          </p:cNvPr>
          <p:cNvCxnSpPr>
            <a:cxnSpLocks/>
          </p:cNvCxnSpPr>
          <p:nvPr/>
        </p:nvCxnSpPr>
        <p:spPr>
          <a:xfrm flipV="1">
            <a:off x="6444417" y="1875909"/>
            <a:ext cx="1698251" cy="1595"/>
          </a:xfrm>
          <a:prstGeom prst="straightConnector1">
            <a:avLst/>
          </a:prstGeom>
          <a:ln w="60325">
            <a:headEnd w="lg" len="lg"/>
            <a:tailEnd type="triangle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223C89AD-0A39-A10D-2E33-C061CC97142F}"/>
              </a:ext>
            </a:extLst>
          </p:cNvPr>
          <p:cNvSpPr/>
          <p:nvPr/>
        </p:nvSpPr>
        <p:spPr>
          <a:xfrm>
            <a:off x="8258780" y="1378845"/>
            <a:ext cx="2607149" cy="911587"/>
          </a:xfrm>
          <a:prstGeom prst="roundRect">
            <a:avLst>
              <a:gd name="adj" fmla="val 1690"/>
            </a:avLst>
          </a:prstGeom>
          <a:solidFill>
            <a:srgbClr val="F3F3F5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DC4C41A-FEB7-C73D-D006-D51D38D9AA9D}"/>
              </a:ext>
            </a:extLst>
          </p:cNvPr>
          <p:cNvSpPr txBox="1"/>
          <p:nvPr/>
        </p:nvSpPr>
        <p:spPr>
          <a:xfrm>
            <a:off x="8481275" y="1395330"/>
            <a:ext cx="892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Patch: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DF42FF4-6625-13AB-DE03-923142E65A16}"/>
              </a:ext>
            </a:extLst>
          </p:cNvPr>
          <p:cNvSpPr txBox="1"/>
          <p:nvPr/>
        </p:nvSpPr>
        <p:spPr>
          <a:xfrm>
            <a:off x="9245796" y="1467177"/>
            <a:ext cx="4876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+12</a:t>
            </a:r>
            <a:endParaRPr kumimoji="1" lang="zh-CN" altLang="en-US" sz="1400" b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EAED3414-5E45-6AFE-27C5-00BD52D7C945}"/>
              </a:ext>
            </a:extLst>
          </p:cNvPr>
          <p:cNvSpPr txBox="1"/>
          <p:nvPr/>
        </p:nvSpPr>
        <p:spPr>
          <a:xfrm>
            <a:off x="9684435" y="1467177"/>
            <a:ext cx="4427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-20</a:t>
            </a:r>
            <a:endParaRPr kumimoji="1" lang="zh-CN" altLang="en-US" sz="1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1A2D782-9C94-41AF-E874-463B2E3F2C8D}"/>
              </a:ext>
            </a:extLst>
          </p:cNvPr>
          <p:cNvSpPr/>
          <p:nvPr/>
        </p:nvSpPr>
        <p:spPr>
          <a:xfrm>
            <a:off x="10151678" y="1610623"/>
            <a:ext cx="108000" cy="10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3CF4752-93F4-440B-A1AA-755519704312}"/>
              </a:ext>
            </a:extLst>
          </p:cNvPr>
          <p:cNvSpPr/>
          <p:nvPr/>
        </p:nvSpPr>
        <p:spPr>
          <a:xfrm>
            <a:off x="10280441" y="1610623"/>
            <a:ext cx="108000" cy="10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3437CA4-6625-C86F-7CF2-CFA6CF9919FA}"/>
              </a:ext>
            </a:extLst>
          </p:cNvPr>
          <p:cNvSpPr/>
          <p:nvPr/>
        </p:nvSpPr>
        <p:spPr>
          <a:xfrm>
            <a:off x="10408189" y="1609768"/>
            <a:ext cx="108000" cy="10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E1C5352-0803-94CB-2740-612FCD8D38F1}"/>
              </a:ext>
            </a:extLst>
          </p:cNvPr>
          <p:cNvSpPr/>
          <p:nvPr/>
        </p:nvSpPr>
        <p:spPr>
          <a:xfrm>
            <a:off x="10536952" y="1609768"/>
            <a:ext cx="108000" cy="10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BF1D6DC-CA34-1AFA-190B-7F67F4837FD9}"/>
              </a:ext>
            </a:extLst>
          </p:cNvPr>
          <p:cNvSpPr/>
          <p:nvPr/>
        </p:nvSpPr>
        <p:spPr>
          <a:xfrm>
            <a:off x="10665715" y="1609768"/>
            <a:ext cx="108000" cy="108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3783161-E436-7DBE-B399-EF42E2C35DE9}"/>
              </a:ext>
            </a:extLst>
          </p:cNvPr>
          <p:cNvSpPr/>
          <p:nvPr/>
        </p:nvSpPr>
        <p:spPr>
          <a:xfrm>
            <a:off x="8334726" y="1757713"/>
            <a:ext cx="2468824" cy="489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00B9600-FB50-B112-F828-F625A67701B7}"/>
              </a:ext>
            </a:extLst>
          </p:cNvPr>
          <p:cNvSpPr/>
          <p:nvPr/>
        </p:nvSpPr>
        <p:spPr>
          <a:xfrm>
            <a:off x="8408067" y="1842542"/>
            <a:ext cx="108000" cy="10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2EBB53B-3D48-30E6-0890-1E7284C34071}"/>
              </a:ext>
            </a:extLst>
          </p:cNvPr>
          <p:cNvSpPr/>
          <p:nvPr/>
        </p:nvSpPr>
        <p:spPr>
          <a:xfrm>
            <a:off x="8408067" y="1948446"/>
            <a:ext cx="108000" cy="216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FEE1EBA-6467-F154-1EA7-8116F4560FE8}"/>
              </a:ext>
            </a:extLst>
          </p:cNvPr>
          <p:cNvSpPr/>
          <p:nvPr/>
        </p:nvSpPr>
        <p:spPr>
          <a:xfrm>
            <a:off x="8516210" y="1840446"/>
            <a:ext cx="2250000" cy="108000"/>
          </a:xfrm>
          <a:prstGeom prst="rect">
            <a:avLst/>
          </a:prstGeom>
          <a:solidFill>
            <a:srgbClr val="D8EA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E70DBB8A-0506-47C2-DC7E-97C5BF930C87}"/>
              </a:ext>
            </a:extLst>
          </p:cNvPr>
          <p:cNvSpPr/>
          <p:nvPr/>
        </p:nvSpPr>
        <p:spPr>
          <a:xfrm>
            <a:off x="8518549" y="1951450"/>
            <a:ext cx="2250000" cy="216000"/>
          </a:xfrm>
          <a:prstGeom prst="rect">
            <a:avLst/>
          </a:prstGeom>
          <a:solidFill>
            <a:srgbClr val="F4CC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AD98FDB7-221A-9F41-47C4-D058732A982D}"/>
              </a:ext>
            </a:extLst>
          </p:cNvPr>
          <p:cNvSpPr txBox="1"/>
          <p:nvPr/>
        </p:nvSpPr>
        <p:spPr>
          <a:xfrm>
            <a:off x="4105984" y="1438325"/>
            <a:ext cx="7409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Input</a:t>
            </a:r>
            <a:endParaRPr kumimoji="1" lang="zh-CN" altLang="en-US" sz="1600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A50B886D-493D-B5FD-57FC-14F61B383E20}"/>
              </a:ext>
            </a:extLst>
          </p:cNvPr>
          <p:cNvSpPr txBox="1"/>
          <p:nvPr/>
        </p:nvSpPr>
        <p:spPr>
          <a:xfrm>
            <a:off x="6579192" y="1495346"/>
            <a:ext cx="11247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Generate</a:t>
            </a:r>
            <a:endParaRPr kumimoji="1" lang="zh-CN" altLang="en-US" sz="1600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50" name="图片 49">
            <a:extLst>
              <a:ext uri="{FF2B5EF4-FFF2-40B4-BE49-F238E27FC236}">
                <a16:creationId xmlns:a16="http://schemas.microsoft.com/office/drawing/2014/main" id="{24D56835-2921-322A-4A55-FC5704CC6F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8192" y="1450182"/>
            <a:ext cx="261239" cy="261239"/>
          </a:xfrm>
          <a:prstGeom prst="rect">
            <a:avLst/>
          </a:prstGeom>
        </p:spPr>
      </p:pic>
      <p:cxnSp>
        <p:nvCxnSpPr>
          <p:cNvPr id="52" name="直线连接符 51">
            <a:extLst>
              <a:ext uri="{FF2B5EF4-FFF2-40B4-BE49-F238E27FC236}">
                <a16:creationId xmlns:a16="http://schemas.microsoft.com/office/drawing/2014/main" id="{0D4ED090-AD1E-E577-881A-07574A128655}"/>
              </a:ext>
            </a:extLst>
          </p:cNvPr>
          <p:cNvCxnSpPr>
            <a:cxnSpLocks/>
          </p:cNvCxnSpPr>
          <p:nvPr/>
        </p:nvCxnSpPr>
        <p:spPr>
          <a:xfrm>
            <a:off x="1408316" y="2812069"/>
            <a:ext cx="9721642" cy="0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7E63195D-C09B-CC63-7A0F-BC87B6EE9F32}"/>
              </a:ext>
            </a:extLst>
          </p:cNvPr>
          <p:cNvSpPr txBox="1"/>
          <p:nvPr/>
        </p:nvSpPr>
        <p:spPr>
          <a:xfrm>
            <a:off x="5352848" y="816559"/>
            <a:ext cx="14948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(a) Inference</a:t>
            </a:r>
            <a:endParaRPr kumimoji="1" lang="zh-CN" altLang="en-US" sz="1600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76E6B86-1755-D941-7F49-FBD6DC39A354}"/>
              </a:ext>
            </a:extLst>
          </p:cNvPr>
          <p:cNvSpPr txBox="1"/>
          <p:nvPr/>
        </p:nvSpPr>
        <p:spPr>
          <a:xfrm>
            <a:off x="5352848" y="2944425"/>
            <a:ext cx="16191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(b) Evaluation</a:t>
            </a:r>
            <a:endParaRPr kumimoji="1" lang="zh-CN" altLang="en-US" sz="1600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57" name="图片 56">
            <a:extLst>
              <a:ext uri="{FF2B5EF4-FFF2-40B4-BE49-F238E27FC236}">
                <a16:creationId xmlns:a16="http://schemas.microsoft.com/office/drawing/2014/main" id="{C3995CB0-9F4F-DB12-5987-4967D998BA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65576" y="4264970"/>
            <a:ext cx="1192931" cy="1192931"/>
          </a:xfrm>
          <a:prstGeom prst="rect">
            <a:avLst/>
          </a:prstGeom>
        </p:spPr>
      </p:pic>
      <p:sp>
        <p:nvSpPr>
          <p:cNvPr id="58" name="文本框 57">
            <a:extLst>
              <a:ext uri="{FF2B5EF4-FFF2-40B4-BE49-F238E27FC236}">
                <a16:creationId xmlns:a16="http://schemas.microsoft.com/office/drawing/2014/main" id="{04A53459-0BF9-1F02-455A-DBDE44B4556C}"/>
              </a:ext>
            </a:extLst>
          </p:cNvPr>
          <p:cNvSpPr txBox="1"/>
          <p:nvPr/>
        </p:nvSpPr>
        <p:spPr>
          <a:xfrm>
            <a:off x="1751747" y="3840588"/>
            <a:ext cx="1418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Codebase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60" name="肘形连接符 59">
            <a:extLst>
              <a:ext uri="{FF2B5EF4-FFF2-40B4-BE49-F238E27FC236}">
                <a16:creationId xmlns:a16="http://schemas.microsoft.com/office/drawing/2014/main" id="{E8E4BAC3-6024-30C4-1756-24D00655E475}"/>
              </a:ext>
            </a:extLst>
          </p:cNvPr>
          <p:cNvCxnSpPr>
            <a:cxnSpLocks/>
          </p:cNvCxnSpPr>
          <p:nvPr/>
        </p:nvCxnSpPr>
        <p:spPr>
          <a:xfrm flipV="1">
            <a:off x="3142452" y="2183549"/>
            <a:ext cx="2246545" cy="2155893"/>
          </a:xfrm>
          <a:prstGeom prst="bentConnector3">
            <a:avLst>
              <a:gd name="adj1" fmla="val 32192"/>
            </a:avLst>
          </a:prstGeom>
          <a:ln w="60325">
            <a:tailEnd type="triangle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3522CC62-A063-6D7E-DB42-0920B16CFEC8}"/>
              </a:ext>
            </a:extLst>
          </p:cNvPr>
          <p:cNvCxnSpPr>
            <a:cxnSpLocks/>
          </p:cNvCxnSpPr>
          <p:nvPr/>
        </p:nvCxnSpPr>
        <p:spPr>
          <a:xfrm>
            <a:off x="3083274" y="4949761"/>
            <a:ext cx="1784412" cy="0"/>
          </a:xfrm>
          <a:prstGeom prst="straightConnector1">
            <a:avLst/>
          </a:prstGeom>
          <a:ln w="60325">
            <a:headEnd w="lg" len="lg"/>
            <a:tailEnd type="triangle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1" name="图片 70">
            <a:extLst>
              <a:ext uri="{FF2B5EF4-FFF2-40B4-BE49-F238E27FC236}">
                <a16:creationId xmlns:a16="http://schemas.microsoft.com/office/drawing/2014/main" id="{FF0DC9E9-7C29-A4CC-A2EE-1211B6B6F9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1631" y="4235734"/>
            <a:ext cx="1219378" cy="1219378"/>
          </a:xfrm>
          <a:prstGeom prst="rect">
            <a:avLst/>
          </a:prstGeom>
        </p:spPr>
      </p:pic>
      <p:sp>
        <p:nvSpPr>
          <p:cNvPr id="72" name="文本框 71">
            <a:extLst>
              <a:ext uri="{FF2B5EF4-FFF2-40B4-BE49-F238E27FC236}">
                <a16:creationId xmlns:a16="http://schemas.microsoft.com/office/drawing/2014/main" id="{46166745-9C9F-F4FA-DCBD-928DF6147ECD}"/>
              </a:ext>
            </a:extLst>
          </p:cNvPr>
          <p:cNvSpPr txBox="1"/>
          <p:nvPr/>
        </p:nvSpPr>
        <p:spPr>
          <a:xfrm>
            <a:off x="4681944" y="3855293"/>
            <a:ext cx="2195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Edited Codebase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77" name="图片 76">
            <a:extLst>
              <a:ext uri="{FF2B5EF4-FFF2-40B4-BE49-F238E27FC236}">
                <a16:creationId xmlns:a16="http://schemas.microsoft.com/office/drawing/2014/main" id="{083A46F1-71E4-E7F7-640E-0E6C1499B4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9143" y="4235734"/>
            <a:ext cx="305127" cy="305127"/>
          </a:xfrm>
          <a:prstGeom prst="rect">
            <a:avLst/>
          </a:prstGeom>
        </p:spPr>
      </p:pic>
      <p:cxnSp>
        <p:nvCxnSpPr>
          <p:cNvPr id="86" name="曲线连接符 85">
            <a:extLst>
              <a:ext uri="{FF2B5EF4-FFF2-40B4-BE49-F238E27FC236}">
                <a16:creationId xmlns:a16="http://schemas.microsoft.com/office/drawing/2014/main" id="{F3F4A300-BA15-1DB2-FB8E-F6D1F2B7E139}"/>
              </a:ext>
            </a:extLst>
          </p:cNvPr>
          <p:cNvCxnSpPr>
            <a:cxnSpLocks/>
            <a:stCxn id="26" idx="2"/>
            <a:endCxn id="72" idx="0"/>
          </p:cNvCxnSpPr>
          <p:nvPr/>
        </p:nvCxnSpPr>
        <p:spPr>
          <a:xfrm rot="5400000">
            <a:off x="6888624" y="1181561"/>
            <a:ext cx="1564861" cy="3782602"/>
          </a:xfrm>
          <a:prstGeom prst="curvedConnector3">
            <a:avLst>
              <a:gd name="adj1" fmla="val 79217"/>
            </a:avLst>
          </a:prstGeom>
          <a:ln w="47625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文本框 88">
            <a:extLst>
              <a:ext uri="{FF2B5EF4-FFF2-40B4-BE49-F238E27FC236}">
                <a16:creationId xmlns:a16="http://schemas.microsoft.com/office/drawing/2014/main" id="{DE46A668-FB10-4F5E-A742-F42E739B3CBD}"/>
              </a:ext>
            </a:extLst>
          </p:cNvPr>
          <p:cNvSpPr txBox="1"/>
          <p:nvPr/>
        </p:nvSpPr>
        <p:spPr>
          <a:xfrm>
            <a:off x="7139257" y="3183283"/>
            <a:ext cx="7906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Apply</a:t>
            </a:r>
            <a:endParaRPr kumimoji="1" lang="zh-CN" altLang="en-US" sz="1600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4" name="直线箭头连接符 93">
            <a:extLst>
              <a:ext uri="{FF2B5EF4-FFF2-40B4-BE49-F238E27FC236}">
                <a16:creationId xmlns:a16="http://schemas.microsoft.com/office/drawing/2014/main" id="{E3752160-800C-7AB3-EB55-7D7875502F24}"/>
              </a:ext>
            </a:extLst>
          </p:cNvPr>
          <p:cNvCxnSpPr>
            <a:cxnSpLocks/>
          </p:cNvCxnSpPr>
          <p:nvPr/>
        </p:nvCxnSpPr>
        <p:spPr>
          <a:xfrm>
            <a:off x="6444417" y="4949761"/>
            <a:ext cx="1963650" cy="0"/>
          </a:xfrm>
          <a:prstGeom prst="straightConnector1">
            <a:avLst/>
          </a:prstGeom>
          <a:ln w="60325">
            <a:headEnd w="lg" len="lg"/>
            <a:tailEnd type="triangle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B8304901-6250-E64D-0E2C-D4E31078350B}"/>
              </a:ext>
            </a:extLst>
          </p:cNvPr>
          <p:cNvSpPr txBox="1"/>
          <p:nvPr/>
        </p:nvSpPr>
        <p:spPr>
          <a:xfrm>
            <a:off x="6504569" y="4547458"/>
            <a:ext cx="16327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Running Tests</a:t>
            </a:r>
            <a:endParaRPr kumimoji="1" lang="zh-CN" altLang="en-US" sz="1600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5" name="圆角矩形 104">
            <a:extLst>
              <a:ext uri="{FF2B5EF4-FFF2-40B4-BE49-F238E27FC236}">
                <a16:creationId xmlns:a16="http://schemas.microsoft.com/office/drawing/2014/main" id="{9FFCE795-3771-17F4-F1BF-FA710268F5DD}"/>
              </a:ext>
            </a:extLst>
          </p:cNvPr>
          <p:cNvSpPr/>
          <p:nvPr/>
        </p:nvSpPr>
        <p:spPr>
          <a:xfrm>
            <a:off x="8575503" y="4311084"/>
            <a:ext cx="2343165" cy="1097952"/>
          </a:xfrm>
          <a:prstGeom prst="roundRect">
            <a:avLst>
              <a:gd name="adj" fmla="val 1548"/>
            </a:avLst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4" name="图片 103">
            <a:extLst>
              <a:ext uri="{FF2B5EF4-FFF2-40B4-BE49-F238E27FC236}">
                <a16:creationId xmlns:a16="http://schemas.microsoft.com/office/drawing/2014/main" id="{972418DC-A95A-4B9F-DC88-185EC0C9B8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74666" y="4488002"/>
            <a:ext cx="208198" cy="208198"/>
          </a:xfrm>
          <a:prstGeom prst="rect">
            <a:avLst/>
          </a:prstGeom>
        </p:spPr>
      </p:pic>
      <p:sp>
        <p:nvSpPr>
          <p:cNvPr id="107" name="文本框 106">
            <a:extLst>
              <a:ext uri="{FF2B5EF4-FFF2-40B4-BE49-F238E27FC236}">
                <a16:creationId xmlns:a16="http://schemas.microsoft.com/office/drawing/2014/main" id="{0941B5EE-9ABE-B0C2-BBBF-88375500417D}"/>
              </a:ext>
            </a:extLst>
          </p:cNvPr>
          <p:cNvSpPr txBox="1"/>
          <p:nvPr/>
        </p:nvSpPr>
        <p:spPr>
          <a:xfrm>
            <a:off x="8827126" y="4421652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Pass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22FA98F8-169D-3C56-845E-01E20889C676}"/>
              </a:ext>
            </a:extLst>
          </p:cNvPr>
          <p:cNvSpPr txBox="1"/>
          <p:nvPr/>
        </p:nvSpPr>
        <p:spPr>
          <a:xfrm>
            <a:off x="9389403" y="4507462"/>
            <a:ext cx="156660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Apple Symbols" panose="02000000000000000000" pitchFamily="2" charset="-79"/>
              </a:rPr>
              <a:t>tests/apply.test.js</a:t>
            </a: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5B83BCEA-BA4E-59EF-96A9-CC33399AD8DE}"/>
              </a:ext>
            </a:extLst>
          </p:cNvPr>
          <p:cNvSpPr txBox="1"/>
          <p:nvPr/>
        </p:nvSpPr>
        <p:spPr>
          <a:xfrm>
            <a:off x="9029376" y="3877161"/>
            <a:ext cx="2195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Test Log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7A775154-A673-5A13-B1BB-1791D453C3FD}"/>
              </a:ext>
            </a:extLst>
          </p:cNvPr>
          <p:cNvSpPr/>
          <p:nvPr/>
        </p:nvSpPr>
        <p:spPr>
          <a:xfrm>
            <a:off x="8709830" y="4773290"/>
            <a:ext cx="2093720" cy="553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" altLang="zh-CN" sz="1000" dirty="0">
                <a:solidFill>
                  <a:schemeClr val="tx1"/>
                </a:solidFill>
                <a:latin typeface="Times New Roman" panose="02020603050405020304" pitchFamily="18" charset="0"/>
                <a:ea typeface="Apple Symbols" panose="02000000000000000000" pitchFamily="2" charset="-79"/>
                <a:cs typeface="Times New Roman" panose="02020603050405020304" pitchFamily="18" charset="0"/>
              </a:rPr>
              <a:t> Stable</a:t>
            </a:r>
          </a:p>
          <a:p>
            <a:r>
              <a:rPr kumimoji="1" lang="en" altLang="zh-CN" sz="1000" dirty="0">
                <a:solidFill>
                  <a:schemeClr val="tx1"/>
                </a:solidFill>
                <a:latin typeface="Times New Roman" panose="02020603050405020304" pitchFamily="18" charset="0"/>
                <a:ea typeface="Apple Symbols" panose="02000000000000000000" pitchFamily="2" charset="-79"/>
                <a:cs typeface="Times New Roman" panose="02020603050405020304" pitchFamily="18" charset="0"/>
              </a:rPr>
              <a:t>    ✓ @apply (207 </a:t>
            </a:r>
            <a:r>
              <a:rPr kumimoji="1" lang="en" altLang="zh-CN" sz="1000" dirty="0" err="1">
                <a:solidFill>
                  <a:schemeClr val="tx1"/>
                </a:solidFill>
                <a:latin typeface="Times New Roman" panose="02020603050405020304" pitchFamily="18" charset="0"/>
                <a:ea typeface="Apple Symbols" panose="02000000000000000000" pitchFamily="2" charset="-79"/>
                <a:cs typeface="Times New Roman" panose="02020603050405020304" pitchFamily="18" charset="0"/>
              </a:rPr>
              <a:t>ms</a:t>
            </a:r>
            <a:r>
              <a:rPr kumimoji="1" lang="en" altLang="zh-CN" sz="1000" dirty="0">
                <a:solidFill>
                  <a:schemeClr val="tx1"/>
                </a:solidFill>
                <a:latin typeface="Times New Roman" panose="02020603050405020304" pitchFamily="18" charset="0"/>
                <a:ea typeface="Apple Symbols" panose="02000000000000000000" pitchFamily="2" charset="-79"/>
                <a:cs typeface="Times New Roman" panose="02020603050405020304" pitchFamily="18" charset="0"/>
              </a:rPr>
              <a:t>)</a:t>
            </a:r>
          </a:p>
          <a:p>
            <a:r>
              <a:rPr kumimoji="1" lang="en" altLang="zh-CN" sz="1000" dirty="0">
                <a:solidFill>
                  <a:schemeClr val="tx1"/>
                </a:solidFill>
                <a:latin typeface="Times New Roman" panose="02020603050405020304" pitchFamily="18" charset="0"/>
                <a:ea typeface="Apple Symbols" panose="02000000000000000000" pitchFamily="2" charset="-79"/>
                <a:cs typeface="Times New Roman" panose="02020603050405020304" pitchFamily="18" charset="0"/>
              </a:rPr>
              <a:t>    ✓ @apply error with unknown.. </a:t>
            </a:r>
            <a:endParaRPr kumimoji="1" lang="zh-CN" altLang="en-US" sz="1000" dirty="0">
              <a:solidFill>
                <a:schemeClr val="tx1"/>
              </a:solidFill>
              <a:latin typeface="Times New Roman" panose="02020603050405020304" pitchFamily="18" charset="0"/>
              <a:ea typeface="Apple Symbols" panose="02000000000000000000" pitchFamily="2" charset="-79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A03A09A-8BDA-D953-9021-7E3CA3467B6F}"/>
              </a:ext>
            </a:extLst>
          </p:cNvPr>
          <p:cNvSpPr txBox="1"/>
          <p:nvPr/>
        </p:nvSpPr>
        <p:spPr>
          <a:xfrm>
            <a:off x="1537275" y="975483"/>
            <a:ext cx="2530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Issue Descriptions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E4E9902-3258-53B3-FEFA-ED3E40FCF757}"/>
              </a:ext>
            </a:extLst>
          </p:cNvPr>
          <p:cNvSpPr txBox="1"/>
          <p:nvPr/>
        </p:nvSpPr>
        <p:spPr>
          <a:xfrm>
            <a:off x="8481275" y="987607"/>
            <a:ext cx="2246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Generated Patch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8185A53-0803-4875-502D-4887C62615D0}"/>
              </a:ext>
            </a:extLst>
          </p:cNvPr>
          <p:cNvSpPr txBox="1"/>
          <p:nvPr/>
        </p:nvSpPr>
        <p:spPr>
          <a:xfrm>
            <a:off x="4114826" y="2236122"/>
            <a:ext cx="7409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Input</a:t>
            </a:r>
            <a:endParaRPr kumimoji="1" lang="zh-CN" altLang="en-US" sz="1600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2152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129">
            <a:extLst>
              <a:ext uri="{FF2B5EF4-FFF2-40B4-BE49-F238E27FC236}">
                <a16:creationId xmlns:a16="http://schemas.microsoft.com/office/drawing/2014/main" id="{0BE1779F-67DD-C2FB-5ECF-D77E14A99DF3}"/>
              </a:ext>
            </a:extLst>
          </p:cNvPr>
          <p:cNvSpPr/>
          <p:nvPr/>
        </p:nvSpPr>
        <p:spPr>
          <a:xfrm>
            <a:off x="967008" y="866899"/>
            <a:ext cx="10409554" cy="4286992"/>
          </a:xfrm>
          <a:prstGeom prst="roundRect">
            <a:avLst>
              <a:gd name="adj" fmla="val 5285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97540578-8C01-654F-20BE-F4BD9B97CDCA}"/>
              </a:ext>
            </a:extLst>
          </p:cNvPr>
          <p:cNvSpPr/>
          <p:nvPr/>
        </p:nvSpPr>
        <p:spPr>
          <a:xfrm>
            <a:off x="1537275" y="1497595"/>
            <a:ext cx="2028093" cy="911590"/>
          </a:xfrm>
          <a:prstGeom prst="roundRect">
            <a:avLst>
              <a:gd name="adj" fmla="val 10952"/>
            </a:avLst>
          </a:prstGeom>
          <a:solidFill>
            <a:srgbClr val="F5CCCE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B057826-B426-C589-1263-291F60DAD7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924" y="1585520"/>
            <a:ext cx="275490" cy="275490"/>
          </a:xfrm>
          <a:prstGeom prst="rect">
            <a:avLst/>
          </a:prstGeom>
          <a:noFill/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08D3FA8-E4A0-FC3D-70BE-CE866631E52F}"/>
              </a:ext>
            </a:extLst>
          </p:cNvPr>
          <p:cNvSpPr txBox="1"/>
          <p:nvPr/>
        </p:nvSpPr>
        <p:spPr>
          <a:xfrm>
            <a:off x="1824857" y="1534933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Issue: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02D796A2-C03B-8941-98F7-E3C4FCF0C2C8}"/>
              </a:ext>
            </a:extLst>
          </p:cNvPr>
          <p:cNvCxnSpPr>
            <a:cxnSpLocks/>
          </p:cNvCxnSpPr>
          <p:nvPr/>
        </p:nvCxnSpPr>
        <p:spPr>
          <a:xfrm>
            <a:off x="3689925" y="1953390"/>
            <a:ext cx="1708709" cy="0"/>
          </a:xfrm>
          <a:prstGeom prst="straightConnector1">
            <a:avLst/>
          </a:prstGeom>
          <a:ln w="60325">
            <a:headEnd w="lg" len="lg"/>
            <a:tailEnd type="triangle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E4213A94-C794-E665-7614-FEFA14513D64}"/>
              </a:ext>
            </a:extLst>
          </p:cNvPr>
          <p:cNvSpPr txBox="1"/>
          <p:nvPr/>
        </p:nvSpPr>
        <p:spPr>
          <a:xfrm>
            <a:off x="1537275" y="1904265"/>
            <a:ext cx="20280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i="1" dirty="0">
                <a:latin typeface="Arial" panose="020B0604020202020204" pitchFamily="34" charset="0"/>
                <a:ea typeface="Apple Symbols" panose="02000000000000000000" pitchFamily="2" charset="-79"/>
                <a:cs typeface="Arial" panose="020B0604020202020204" pitchFamily="34" charset="0"/>
              </a:rPr>
              <a:t>@apply</a:t>
            </a:r>
            <a:r>
              <a:rPr lang="en-US" altLang="zh-CN" sz="1200" b="1" i="1" dirty="0">
                <a:latin typeface="Arial" panose="020B0604020202020204" pitchFamily="34" charset="0"/>
                <a:ea typeface="Apple Symbols" panose="02000000000000000000" pitchFamily="2" charset="-79"/>
                <a:cs typeface="Arial" panose="020B0604020202020204" pitchFamily="34" charset="0"/>
              </a:rPr>
              <a:t> </a:t>
            </a:r>
            <a:r>
              <a:rPr lang="zh-CN" altLang="en-US" sz="1200" b="1" i="1" dirty="0">
                <a:latin typeface="Arial" panose="020B0604020202020204" pitchFamily="34" charset="0"/>
                <a:ea typeface="Apple Symbols" panose="02000000000000000000" pitchFamily="2" charset="-79"/>
                <a:cs typeface="Arial" panose="020B0604020202020204" pitchFamily="34" charset="0"/>
              </a:rPr>
              <a:t>method is</a:t>
            </a:r>
            <a:r>
              <a:rPr lang="en-US" altLang="zh-CN" sz="1200" b="1" i="1" dirty="0">
                <a:latin typeface="Arial" panose="020B0604020202020204" pitchFamily="34" charset="0"/>
                <a:ea typeface="Apple Symbols" panose="02000000000000000000" pitchFamily="2" charset="-79"/>
                <a:cs typeface="Arial" panose="020B0604020202020204" pitchFamily="34" charset="0"/>
              </a:rPr>
              <a:t> </a:t>
            </a:r>
            <a:r>
              <a:rPr lang="zh-CN" altLang="en-US" sz="1200" b="1" i="1" dirty="0">
                <a:latin typeface="Arial" panose="020B0604020202020204" pitchFamily="34" charset="0"/>
                <a:ea typeface="Apple Symbols" panose="02000000000000000000" pitchFamily="2" charset="-79"/>
                <a:cs typeface="Arial" panose="020B0604020202020204" pitchFamily="34" charset="0"/>
              </a:rPr>
              <a:t>invalid after upgrade to 3.3.1</a:t>
            </a:r>
            <a:r>
              <a:rPr lang="en-US" altLang="zh-CN" sz="1200" b="1" i="1" dirty="0">
                <a:latin typeface="Arial" panose="020B0604020202020204" pitchFamily="34" charset="0"/>
                <a:ea typeface="Apple Symbols" panose="02000000000000000000" pitchFamily="2" charset="-79"/>
                <a:cs typeface="Arial" panose="020B0604020202020204" pitchFamily="34" charset="0"/>
              </a:rPr>
              <a:t>…</a:t>
            </a:r>
            <a:r>
              <a:rPr lang="zh-CN" altLang="en-US" sz="1200" b="1" i="1" dirty="0">
                <a:latin typeface="Arial" panose="020B0604020202020204" pitchFamily="34" charset="0"/>
                <a:ea typeface="Apple Symbols" panose="02000000000000000000" pitchFamily="2" charset="-79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FC59DFD8-4319-900F-C26E-33D99A027B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0049" y="1728518"/>
            <a:ext cx="680667" cy="680667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109FC951-5859-8CE0-FCA0-FB73770D2BE4}"/>
              </a:ext>
            </a:extLst>
          </p:cNvPr>
          <p:cNvSpPr txBox="1"/>
          <p:nvPr/>
        </p:nvSpPr>
        <p:spPr>
          <a:xfrm>
            <a:off x="5560049" y="1444819"/>
            <a:ext cx="6206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LLM</a:t>
            </a:r>
            <a:endParaRPr kumimoji="1" lang="zh-CN" altLang="en-US" sz="1600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1A1833BD-1C4A-D490-9125-7C7BFBE14CD1}"/>
              </a:ext>
            </a:extLst>
          </p:cNvPr>
          <p:cNvCxnSpPr>
            <a:cxnSpLocks/>
          </p:cNvCxnSpPr>
          <p:nvPr/>
        </p:nvCxnSpPr>
        <p:spPr>
          <a:xfrm flipV="1">
            <a:off x="6444417" y="1994659"/>
            <a:ext cx="1698251" cy="1595"/>
          </a:xfrm>
          <a:prstGeom prst="straightConnector1">
            <a:avLst/>
          </a:prstGeom>
          <a:ln w="60325">
            <a:headEnd w="lg" len="lg"/>
            <a:tailEnd type="triangle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223C89AD-0A39-A10D-2E33-C061CC97142F}"/>
              </a:ext>
            </a:extLst>
          </p:cNvPr>
          <p:cNvSpPr/>
          <p:nvPr/>
        </p:nvSpPr>
        <p:spPr>
          <a:xfrm>
            <a:off x="8258780" y="1497595"/>
            <a:ext cx="2607149" cy="911587"/>
          </a:xfrm>
          <a:prstGeom prst="roundRect">
            <a:avLst>
              <a:gd name="adj" fmla="val 1690"/>
            </a:avLst>
          </a:prstGeom>
          <a:solidFill>
            <a:srgbClr val="F3F3F5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DC4C41A-FEB7-C73D-D006-D51D38D9AA9D}"/>
              </a:ext>
            </a:extLst>
          </p:cNvPr>
          <p:cNvSpPr txBox="1"/>
          <p:nvPr/>
        </p:nvSpPr>
        <p:spPr>
          <a:xfrm>
            <a:off x="8481275" y="1514080"/>
            <a:ext cx="892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Patch: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DF42FF4-6625-13AB-DE03-923142E65A16}"/>
              </a:ext>
            </a:extLst>
          </p:cNvPr>
          <p:cNvSpPr txBox="1"/>
          <p:nvPr/>
        </p:nvSpPr>
        <p:spPr>
          <a:xfrm>
            <a:off x="9245796" y="1585927"/>
            <a:ext cx="4876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+12</a:t>
            </a:r>
            <a:endParaRPr kumimoji="1" lang="zh-CN" altLang="en-US" sz="1400" b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EAED3414-5E45-6AFE-27C5-00BD52D7C945}"/>
              </a:ext>
            </a:extLst>
          </p:cNvPr>
          <p:cNvSpPr txBox="1"/>
          <p:nvPr/>
        </p:nvSpPr>
        <p:spPr>
          <a:xfrm>
            <a:off x="9684435" y="1585927"/>
            <a:ext cx="4427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-20</a:t>
            </a:r>
            <a:endParaRPr kumimoji="1" lang="zh-CN" altLang="en-US" sz="1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1A2D782-9C94-41AF-E874-463B2E3F2C8D}"/>
              </a:ext>
            </a:extLst>
          </p:cNvPr>
          <p:cNvSpPr/>
          <p:nvPr/>
        </p:nvSpPr>
        <p:spPr>
          <a:xfrm>
            <a:off x="10151678" y="1729373"/>
            <a:ext cx="108000" cy="10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3CF4752-93F4-440B-A1AA-755519704312}"/>
              </a:ext>
            </a:extLst>
          </p:cNvPr>
          <p:cNvSpPr/>
          <p:nvPr/>
        </p:nvSpPr>
        <p:spPr>
          <a:xfrm>
            <a:off x="10280441" y="1729373"/>
            <a:ext cx="108000" cy="10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3437CA4-6625-C86F-7CF2-CFA6CF9919FA}"/>
              </a:ext>
            </a:extLst>
          </p:cNvPr>
          <p:cNvSpPr/>
          <p:nvPr/>
        </p:nvSpPr>
        <p:spPr>
          <a:xfrm>
            <a:off x="10408189" y="1728518"/>
            <a:ext cx="108000" cy="10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E1C5352-0803-94CB-2740-612FCD8D38F1}"/>
              </a:ext>
            </a:extLst>
          </p:cNvPr>
          <p:cNvSpPr/>
          <p:nvPr/>
        </p:nvSpPr>
        <p:spPr>
          <a:xfrm>
            <a:off x="10536952" y="1728518"/>
            <a:ext cx="108000" cy="10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BF1D6DC-CA34-1AFA-190B-7F67F4837FD9}"/>
              </a:ext>
            </a:extLst>
          </p:cNvPr>
          <p:cNvSpPr/>
          <p:nvPr/>
        </p:nvSpPr>
        <p:spPr>
          <a:xfrm>
            <a:off x="10665715" y="1728518"/>
            <a:ext cx="108000" cy="108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3783161-E436-7DBE-B399-EF42E2C35DE9}"/>
              </a:ext>
            </a:extLst>
          </p:cNvPr>
          <p:cNvSpPr/>
          <p:nvPr/>
        </p:nvSpPr>
        <p:spPr>
          <a:xfrm>
            <a:off x="8334726" y="1876463"/>
            <a:ext cx="2468824" cy="489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00B9600-FB50-B112-F828-F625A67701B7}"/>
              </a:ext>
            </a:extLst>
          </p:cNvPr>
          <p:cNvSpPr/>
          <p:nvPr/>
        </p:nvSpPr>
        <p:spPr>
          <a:xfrm>
            <a:off x="8408067" y="1961292"/>
            <a:ext cx="108000" cy="10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2EBB53B-3D48-30E6-0890-1E7284C34071}"/>
              </a:ext>
            </a:extLst>
          </p:cNvPr>
          <p:cNvSpPr/>
          <p:nvPr/>
        </p:nvSpPr>
        <p:spPr>
          <a:xfrm>
            <a:off x="8408067" y="2067196"/>
            <a:ext cx="108000" cy="216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FEE1EBA-6467-F154-1EA7-8116F4560FE8}"/>
              </a:ext>
            </a:extLst>
          </p:cNvPr>
          <p:cNvSpPr/>
          <p:nvPr/>
        </p:nvSpPr>
        <p:spPr>
          <a:xfrm>
            <a:off x="8516210" y="1959196"/>
            <a:ext cx="2250000" cy="108000"/>
          </a:xfrm>
          <a:prstGeom prst="rect">
            <a:avLst/>
          </a:prstGeom>
          <a:solidFill>
            <a:srgbClr val="D8EA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E70DBB8A-0506-47C2-DC7E-97C5BF930C87}"/>
              </a:ext>
            </a:extLst>
          </p:cNvPr>
          <p:cNvSpPr/>
          <p:nvPr/>
        </p:nvSpPr>
        <p:spPr>
          <a:xfrm>
            <a:off x="8518549" y="2070200"/>
            <a:ext cx="2250000" cy="216000"/>
          </a:xfrm>
          <a:prstGeom prst="rect">
            <a:avLst/>
          </a:prstGeom>
          <a:solidFill>
            <a:srgbClr val="F4CC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AD98FDB7-221A-9F41-47C4-D058732A982D}"/>
              </a:ext>
            </a:extLst>
          </p:cNvPr>
          <p:cNvSpPr txBox="1"/>
          <p:nvPr/>
        </p:nvSpPr>
        <p:spPr>
          <a:xfrm>
            <a:off x="4105984" y="1557075"/>
            <a:ext cx="7409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Input</a:t>
            </a:r>
            <a:endParaRPr kumimoji="1" lang="zh-CN" altLang="en-US" sz="1600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A50B886D-493D-B5FD-57FC-14F61B383E20}"/>
              </a:ext>
            </a:extLst>
          </p:cNvPr>
          <p:cNvSpPr txBox="1"/>
          <p:nvPr/>
        </p:nvSpPr>
        <p:spPr>
          <a:xfrm>
            <a:off x="6579192" y="1614096"/>
            <a:ext cx="11247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Generate</a:t>
            </a:r>
            <a:endParaRPr kumimoji="1" lang="zh-CN" altLang="en-US" sz="1600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50" name="图片 49">
            <a:extLst>
              <a:ext uri="{FF2B5EF4-FFF2-40B4-BE49-F238E27FC236}">
                <a16:creationId xmlns:a16="http://schemas.microsoft.com/office/drawing/2014/main" id="{24D56835-2921-322A-4A55-FC5704CC6F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8192" y="1568932"/>
            <a:ext cx="261239" cy="261239"/>
          </a:xfrm>
          <a:prstGeom prst="rect">
            <a:avLst/>
          </a:prstGeom>
        </p:spPr>
      </p:pic>
      <p:cxnSp>
        <p:nvCxnSpPr>
          <p:cNvPr id="52" name="直线连接符 51">
            <a:extLst>
              <a:ext uri="{FF2B5EF4-FFF2-40B4-BE49-F238E27FC236}">
                <a16:creationId xmlns:a16="http://schemas.microsoft.com/office/drawing/2014/main" id="{0D4ED090-AD1E-E577-881A-07574A128655}"/>
              </a:ext>
            </a:extLst>
          </p:cNvPr>
          <p:cNvCxnSpPr>
            <a:cxnSpLocks/>
          </p:cNvCxnSpPr>
          <p:nvPr/>
        </p:nvCxnSpPr>
        <p:spPr>
          <a:xfrm>
            <a:off x="1384566" y="2835819"/>
            <a:ext cx="9721642" cy="0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7E63195D-C09B-CC63-7A0F-BC87B6EE9F32}"/>
              </a:ext>
            </a:extLst>
          </p:cNvPr>
          <p:cNvSpPr txBox="1"/>
          <p:nvPr/>
        </p:nvSpPr>
        <p:spPr>
          <a:xfrm>
            <a:off x="4995638" y="970182"/>
            <a:ext cx="14948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(a) Inference</a:t>
            </a:r>
            <a:endParaRPr kumimoji="1" lang="zh-CN" altLang="en-US" sz="1600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76E6B86-1755-D941-7F49-FBD6DC39A354}"/>
              </a:ext>
            </a:extLst>
          </p:cNvPr>
          <p:cNvSpPr txBox="1"/>
          <p:nvPr/>
        </p:nvSpPr>
        <p:spPr>
          <a:xfrm>
            <a:off x="4995638" y="2906740"/>
            <a:ext cx="16191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(b) Evaluation</a:t>
            </a:r>
            <a:endParaRPr kumimoji="1" lang="zh-CN" altLang="en-US" sz="1600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57" name="图片 56">
            <a:extLst>
              <a:ext uri="{FF2B5EF4-FFF2-40B4-BE49-F238E27FC236}">
                <a16:creationId xmlns:a16="http://schemas.microsoft.com/office/drawing/2014/main" id="{C3995CB0-9F4F-DB12-5987-4967D998BA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5225" y="3781439"/>
            <a:ext cx="1192931" cy="1192931"/>
          </a:xfrm>
          <a:prstGeom prst="rect">
            <a:avLst/>
          </a:prstGeom>
        </p:spPr>
      </p:pic>
      <p:sp>
        <p:nvSpPr>
          <p:cNvPr id="58" name="文本框 57">
            <a:extLst>
              <a:ext uri="{FF2B5EF4-FFF2-40B4-BE49-F238E27FC236}">
                <a16:creationId xmlns:a16="http://schemas.microsoft.com/office/drawing/2014/main" id="{04A53459-0BF9-1F02-455A-DBDE44B4556C}"/>
              </a:ext>
            </a:extLst>
          </p:cNvPr>
          <p:cNvSpPr txBox="1"/>
          <p:nvPr/>
        </p:nvSpPr>
        <p:spPr>
          <a:xfrm>
            <a:off x="1751747" y="3365588"/>
            <a:ext cx="1418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Codebase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60" name="肘形连接符 59">
            <a:extLst>
              <a:ext uri="{FF2B5EF4-FFF2-40B4-BE49-F238E27FC236}">
                <a16:creationId xmlns:a16="http://schemas.microsoft.com/office/drawing/2014/main" id="{E8E4BAC3-6024-30C4-1756-24D00655E475}"/>
              </a:ext>
            </a:extLst>
          </p:cNvPr>
          <p:cNvCxnSpPr>
            <a:cxnSpLocks/>
          </p:cNvCxnSpPr>
          <p:nvPr/>
        </p:nvCxnSpPr>
        <p:spPr>
          <a:xfrm flipV="1">
            <a:off x="3069916" y="2283196"/>
            <a:ext cx="2328718" cy="1663456"/>
          </a:xfrm>
          <a:prstGeom prst="bentConnector3">
            <a:avLst>
              <a:gd name="adj1" fmla="val 31642"/>
            </a:avLst>
          </a:prstGeom>
          <a:ln w="60325">
            <a:tailEnd type="triangle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3522CC62-A063-6D7E-DB42-0920B16CFEC8}"/>
              </a:ext>
            </a:extLst>
          </p:cNvPr>
          <p:cNvCxnSpPr>
            <a:cxnSpLocks/>
          </p:cNvCxnSpPr>
          <p:nvPr/>
        </p:nvCxnSpPr>
        <p:spPr>
          <a:xfrm>
            <a:off x="3083274" y="4474761"/>
            <a:ext cx="1784412" cy="0"/>
          </a:xfrm>
          <a:prstGeom prst="straightConnector1">
            <a:avLst/>
          </a:prstGeom>
          <a:ln w="60325">
            <a:headEnd w="lg" len="lg"/>
            <a:tailEnd type="triangle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1" name="图片 70">
            <a:extLst>
              <a:ext uri="{FF2B5EF4-FFF2-40B4-BE49-F238E27FC236}">
                <a16:creationId xmlns:a16="http://schemas.microsoft.com/office/drawing/2014/main" id="{FF0DC9E9-7C29-A4CC-A2EE-1211B6B6F9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1631" y="3760734"/>
            <a:ext cx="1219378" cy="1219378"/>
          </a:xfrm>
          <a:prstGeom prst="rect">
            <a:avLst/>
          </a:prstGeom>
        </p:spPr>
      </p:pic>
      <p:sp>
        <p:nvSpPr>
          <p:cNvPr id="72" name="文本框 71">
            <a:extLst>
              <a:ext uri="{FF2B5EF4-FFF2-40B4-BE49-F238E27FC236}">
                <a16:creationId xmlns:a16="http://schemas.microsoft.com/office/drawing/2014/main" id="{46166745-9C9F-F4FA-DCBD-928DF6147ECD}"/>
              </a:ext>
            </a:extLst>
          </p:cNvPr>
          <p:cNvSpPr txBox="1"/>
          <p:nvPr/>
        </p:nvSpPr>
        <p:spPr>
          <a:xfrm>
            <a:off x="4681944" y="3380293"/>
            <a:ext cx="2195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Edited Codebase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77" name="图片 76">
            <a:extLst>
              <a:ext uri="{FF2B5EF4-FFF2-40B4-BE49-F238E27FC236}">
                <a16:creationId xmlns:a16="http://schemas.microsoft.com/office/drawing/2014/main" id="{083A46F1-71E4-E7F7-640E-0E6C1499B4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9143" y="3760734"/>
            <a:ext cx="305127" cy="305127"/>
          </a:xfrm>
          <a:prstGeom prst="rect">
            <a:avLst/>
          </a:prstGeom>
        </p:spPr>
      </p:pic>
      <p:cxnSp>
        <p:nvCxnSpPr>
          <p:cNvPr id="86" name="曲线连接符 85">
            <a:extLst>
              <a:ext uri="{FF2B5EF4-FFF2-40B4-BE49-F238E27FC236}">
                <a16:creationId xmlns:a16="http://schemas.microsoft.com/office/drawing/2014/main" id="{F3F4A300-BA15-1DB2-FB8E-F6D1F2B7E139}"/>
              </a:ext>
            </a:extLst>
          </p:cNvPr>
          <p:cNvCxnSpPr>
            <a:cxnSpLocks/>
            <a:stCxn id="26" idx="2"/>
            <a:endCxn id="72" idx="3"/>
          </p:cNvCxnSpPr>
          <p:nvPr/>
        </p:nvCxnSpPr>
        <p:spPr>
          <a:xfrm rot="5400000">
            <a:off x="7642070" y="1644673"/>
            <a:ext cx="1155777" cy="2684794"/>
          </a:xfrm>
          <a:prstGeom prst="curvedConnector2">
            <a:avLst/>
          </a:prstGeom>
          <a:ln w="47625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文本框 88">
            <a:extLst>
              <a:ext uri="{FF2B5EF4-FFF2-40B4-BE49-F238E27FC236}">
                <a16:creationId xmlns:a16="http://schemas.microsoft.com/office/drawing/2014/main" id="{DE46A668-FB10-4F5E-A742-F42E739B3CBD}"/>
              </a:ext>
            </a:extLst>
          </p:cNvPr>
          <p:cNvSpPr txBox="1"/>
          <p:nvPr/>
        </p:nvSpPr>
        <p:spPr>
          <a:xfrm>
            <a:off x="7172372" y="3131643"/>
            <a:ext cx="7906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Apply</a:t>
            </a:r>
            <a:endParaRPr kumimoji="1" lang="zh-CN" altLang="en-US" sz="1600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4" name="直线箭头连接符 93">
            <a:extLst>
              <a:ext uri="{FF2B5EF4-FFF2-40B4-BE49-F238E27FC236}">
                <a16:creationId xmlns:a16="http://schemas.microsoft.com/office/drawing/2014/main" id="{E3752160-800C-7AB3-EB55-7D7875502F24}"/>
              </a:ext>
            </a:extLst>
          </p:cNvPr>
          <p:cNvCxnSpPr>
            <a:cxnSpLocks/>
          </p:cNvCxnSpPr>
          <p:nvPr/>
        </p:nvCxnSpPr>
        <p:spPr>
          <a:xfrm>
            <a:off x="6444417" y="4474761"/>
            <a:ext cx="1963650" cy="0"/>
          </a:xfrm>
          <a:prstGeom prst="straightConnector1">
            <a:avLst/>
          </a:prstGeom>
          <a:ln w="60325">
            <a:headEnd w="lg" len="lg"/>
            <a:tailEnd type="triangle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B8304901-6250-E64D-0E2C-D4E31078350B}"/>
              </a:ext>
            </a:extLst>
          </p:cNvPr>
          <p:cNvSpPr txBox="1"/>
          <p:nvPr/>
        </p:nvSpPr>
        <p:spPr>
          <a:xfrm>
            <a:off x="6504569" y="4072458"/>
            <a:ext cx="16327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Running Tests</a:t>
            </a:r>
            <a:endParaRPr kumimoji="1" lang="zh-CN" altLang="en-US" sz="1600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5" name="圆角矩形 104">
            <a:extLst>
              <a:ext uri="{FF2B5EF4-FFF2-40B4-BE49-F238E27FC236}">
                <a16:creationId xmlns:a16="http://schemas.microsoft.com/office/drawing/2014/main" id="{9FFCE795-3771-17F4-F1BF-FA710268F5DD}"/>
              </a:ext>
            </a:extLst>
          </p:cNvPr>
          <p:cNvSpPr/>
          <p:nvPr/>
        </p:nvSpPr>
        <p:spPr>
          <a:xfrm>
            <a:off x="8575503" y="3836084"/>
            <a:ext cx="2343165" cy="1097952"/>
          </a:xfrm>
          <a:prstGeom prst="roundRect">
            <a:avLst>
              <a:gd name="adj" fmla="val 1548"/>
            </a:avLst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4" name="图片 103">
            <a:extLst>
              <a:ext uri="{FF2B5EF4-FFF2-40B4-BE49-F238E27FC236}">
                <a16:creationId xmlns:a16="http://schemas.microsoft.com/office/drawing/2014/main" id="{972418DC-A95A-4B9F-DC88-185EC0C9B8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74666" y="4013002"/>
            <a:ext cx="208198" cy="208198"/>
          </a:xfrm>
          <a:prstGeom prst="rect">
            <a:avLst/>
          </a:prstGeom>
        </p:spPr>
      </p:pic>
      <p:sp>
        <p:nvSpPr>
          <p:cNvPr id="107" name="文本框 106">
            <a:extLst>
              <a:ext uri="{FF2B5EF4-FFF2-40B4-BE49-F238E27FC236}">
                <a16:creationId xmlns:a16="http://schemas.microsoft.com/office/drawing/2014/main" id="{0941B5EE-9ABE-B0C2-BBBF-88375500417D}"/>
              </a:ext>
            </a:extLst>
          </p:cNvPr>
          <p:cNvSpPr txBox="1"/>
          <p:nvPr/>
        </p:nvSpPr>
        <p:spPr>
          <a:xfrm>
            <a:off x="8827126" y="3946652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Pass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22FA98F8-169D-3C56-845E-01E20889C676}"/>
              </a:ext>
            </a:extLst>
          </p:cNvPr>
          <p:cNvSpPr txBox="1"/>
          <p:nvPr/>
        </p:nvSpPr>
        <p:spPr>
          <a:xfrm>
            <a:off x="9389403" y="4032462"/>
            <a:ext cx="156660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Apple Symbols" panose="02000000000000000000" pitchFamily="2" charset="-79"/>
              </a:rPr>
              <a:t>tests/apply.test.js</a:t>
            </a: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5B83BCEA-BA4E-59EF-96A9-CC33399AD8DE}"/>
              </a:ext>
            </a:extLst>
          </p:cNvPr>
          <p:cNvSpPr txBox="1"/>
          <p:nvPr/>
        </p:nvSpPr>
        <p:spPr>
          <a:xfrm>
            <a:off x="9029376" y="3437786"/>
            <a:ext cx="2195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Test Log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7A775154-A673-5A13-B1BB-1791D453C3FD}"/>
              </a:ext>
            </a:extLst>
          </p:cNvPr>
          <p:cNvSpPr/>
          <p:nvPr/>
        </p:nvSpPr>
        <p:spPr>
          <a:xfrm>
            <a:off x="8709830" y="4298290"/>
            <a:ext cx="2093720" cy="553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" altLang="zh-CN" sz="1000" dirty="0">
                <a:solidFill>
                  <a:schemeClr val="tx1"/>
                </a:solidFill>
                <a:latin typeface="Times New Roman" panose="02020603050405020304" pitchFamily="18" charset="0"/>
                <a:ea typeface="Apple Symbols" panose="02000000000000000000" pitchFamily="2" charset="-79"/>
                <a:cs typeface="Times New Roman" panose="02020603050405020304" pitchFamily="18" charset="0"/>
              </a:rPr>
              <a:t> Stable</a:t>
            </a:r>
          </a:p>
          <a:p>
            <a:r>
              <a:rPr kumimoji="1" lang="en" altLang="zh-CN" sz="1000" dirty="0">
                <a:solidFill>
                  <a:schemeClr val="tx1"/>
                </a:solidFill>
                <a:latin typeface="Times New Roman" panose="02020603050405020304" pitchFamily="18" charset="0"/>
                <a:ea typeface="Apple Symbols" panose="02000000000000000000" pitchFamily="2" charset="-79"/>
                <a:cs typeface="Times New Roman" panose="02020603050405020304" pitchFamily="18" charset="0"/>
              </a:rPr>
              <a:t>    ✓ @apply (207 </a:t>
            </a:r>
            <a:r>
              <a:rPr kumimoji="1" lang="en" altLang="zh-CN" sz="1000" dirty="0" err="1">
                <a:solidFill>
                  <a:schemeClr val="tx1"/>
                </a:solidFill>
                <a:latin typeface="Times New Roman" panose="02020603050405020304" pitchFamily="18" charset="0"/>
                <a:ea typeface="Apple Symbols" panose="02000000000000000000" pitchFamily="2" charset="-79"/>
                <a:cs typeface="Times New Roman" panose="02020603050405020304" pitchFamily="18" charset="0"/>
              </a:rPr>
              <a:t>ms</a:t>
            </a:r>
            <a:r>
              <a:rPr kumimoji="1" lang="en" altLang="zh-CN" sz="1000" dirty="0">
                <a:solidFill>
                  <a:schemeClr val="tx1"/>
                </a:solidFill>
                <a:latin typeface="Times New Roman" panose="02020603050405020304" pitchFamily="18" charset="0"/>
                <a:ea typeface="Apple Symbols" panose="02000000000000000000" pitchFamily="2" charset="-79"/>
                <a:cs typeface="Times New Roman" panose="02020603050405020304" pitchFamily="18" charset="0"/>
              </a:rPr>
              <a:t>)</a:t>
            </a:r>
          </a:p>
          <a:p>
            <a:r>
              <a:rPr kumimoji="1" lang="en" altLang="zh-CN" sz="1000" dirty="0">
                <a:solidFill>
                  <a:schemeClr val="tx1"/>
                </a:solidFill>
                <a:latin typeface="Times New Roman" panose="02020603050405020304" pitchFamily="18" charset="0"/>
                <a:ea typeface="Apple Symbols" panose="02000000000000000000" pitchFamily="2" charset="-79"/>
                <a:cs typeface="Times New Roman" panose="02020603050405020304" pitchFamily="18" charset="0"/>
              </a:rPr>
              <a:t>    ✓ @apply error with unknown.. </a:t>
            </a:r>
            <a:endParaRPr kumimoji="1" lang="zh-CN" altLang="en-US" sz="1000" dirty="0">
              <a:solidFill>
                <a:schemeClr val="tx1"/>
              </a:solidFill>
              <a:latin typeface="Times New Roman" panose="02020603050405020304" pitchFamily="18" charset="0"/>
              <a:ea typeface="Apple Symbols" panose="02000000000000000000" pitchFamily="2" charset="-79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A03A09A-8BDA-D953-9021-7E3CA3467B6F}"/>
              </a:ext>
            </a:extLst>
          </p:cNvPr>
          <p:cNvSpPr txBox="1"/>
          <p:nvPr/>
        </p:nvSpPr>
        <p:spPr>
          <a:xfrm>
            <a:off x="1408232" y="1094681"/>
            <a:ext cx="2530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Issue Descriptions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E4E9902-3258-53B3-FEFA-ED3E40FCF757}"/>
              </a:ext>
            </a:extLst>
          </p:cNvPr>
          <p:cNvSpPr txBox="1"/>
          <p:nvPr/>
        </p:nvSpPr>
        <p:spPr>
          <a:xfrm>
            <a:off x="8481275" y="1106357"/>
            <a:ext cx="2246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Generated Patch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8185A53-0803-4875-502D-4887C62615D0}"/>
              </a:ext>
            </a:extLst>
          </p:cNvPr>
          <p:cNvSpPr txBox="1"/>
          <p:nvPr/>
        </p:nvSpPr>
        <p:spPr>
          <a:xfrm>
            <a:off x="4114826" y="2354872"/>
            <a:ext cx="7409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Input</a:t>
            </a:r>
            <a:endParaRPr kumimoji="1" lang="zh-CN" altLang="en-US" sz="1600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6569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756AE-8D87-B698-7328-5C60726AB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: 圆角 129">
            <a:extLst>
              <a:ext uri="{FF2B5EF4-FFF2-40B4-BE49-F238E27FC236}">
                <a16:creationId xmlns:a16="http://schemas.microsoft.com/office/drawing/2014/main" id="{26996492-C4CC-DD84-FCD1-E3B2BF8A86BD}"/>
              </a:ext>
            </a:extLst>
          </p:cNvPr>
          <p:cNvSpPr/>
          <p:nvPr/>
        </p:nvSpPr>
        <p:spPr>
          <a:xfrm>
            <a:off x="816429" y="2954310"/>
            <a:ext cx="9040435" cy="1998690"/>
          </a:xfrm>
          <a:prstGeom prst="roundRect">
            <a:avLst>
              <a:gd name="adj" fmla="val 5285"/>
            </a:avLst>
          </a:prstGeom>
          <a:solidFill>
            <a:srgbClr val="00B050">
              <a:alpha val="5555"/>
            </a:srgbClr>
          </a:solidFill>
          <a:ln w="285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: 圆角 129">
            <a:extLst>
              <a:ext uri="{FF2B5EF4-FFF2-40B4-BE49-F238E27FC236}">
                <a16:creationId xmlns:a16="http://schemas.microsoft.com/office/drawing/2014/main" id="{9C5CC402-909C-5745-5C62-28A5EE475B1B}"/>
              </a:ext>
            </a:extLst>
          </p:cNvPr>
          <p:cNvSpPr/>
          <p:nvPr/>
        </p:nvSpPr>
        <p:spPr>
          <a:xfrm>
            <a:off x="816429" y="947057"/>
            <a:ext cx="9040435" cy="1799753"/>
          </a:xfrm>
          <a:prstGeom prst="roundRect">
            <a:avLst>
              <a:gd name="adj" fmla="val 5285"/>
            </a:avLst>
          </a:prstGeom>
          <a:solidFill>
            <a:srgbClr val="835CC6">
              <a:alpha val="5000"/>
            </a:srgbClr>
          </a:solidFill>
          <a:ln w="285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8F93F364-7C7D-44D6-A674-0B713EC6BD75}"/>
              </a:ext>
            </a:extLst>
          </p:cNvPr>
          <p:cNvSpPr/>
          <p:nvPr/>
        </p:nvSpPr>
        <p:spPr>
          <a:xfrm>
            <a:off x="1537275" y="1487704"/>
            <a:ext cx="2028093" cy="1090615"/>
          </a:xfrm>
          <a:prstGeom prst="roundRect">
            <a:avLst>
              <a:gd name="adj" fmla="val 10952"/>
            </a:avLst>
          </a:prstGeom>
          <a:solidFill>
            <a:srgbClr val="7030A0">
              <a:alpha val="15214"/>
            </a:srgbClr>
          </a:solidFill>
          <a:ln w="28575">
            <a:solidFill>
              <a:srgbClr val="7030A0">
                <a:alpha val="46767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AB29796-7C47-7DDD-4ECE-99CF11FF7B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924" y="1575630"/>
            <a:ext cx="275490" cy="275490"/>
          </a:xfrm>
          <a:prstGeom prst="rect">
            <a:avLst/>
          </a:prstGeom>
          <a:noFill/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FEB1BD9-AC9C-3E53-A78C-376DD60838B6}"/>
              </a:ext>
            </a:extLst>
          </p:cNvPr>
          <p:cNvSpPr txBox="1"/>
          <p:nvPr/>
        </p:nvSpPr>
        <p:spPr>
          <a:xfrm>
            <a:off x="1824857" y="1525043"/>
            <a:ext cx="7681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Issue:</a:t>
            </a:r>
            <a:endParaRPr kumimoji="1" lang="zh-CN" altLang="en-US" sz="1600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F267488B-5934-B81B-5848-3DFC3381FA66}"/>
              </a:ext>
            </a:extLst>
          </p:cNvPr>
          <p:cNvCxnSpPr>
            <a:cxnSpLocks/>
          </p:cNvCxnSpPr>
          <p:nvPr/>
        </p:nvCxnSpPr>
        <p:spPr>
          <a:xfrm>
            <a:off x="3689925" y="1834640"/>
            <a:ext cx="939827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w="lg" len="lg"/>
            <a:tailEnd type="triangle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500B4BB1-AEC0-2E6B-743C-596B2FB19119}"/>
              </a:ext>
            </a:extLst>
          </p:cNvPr>
          <p:cNvSpPr txBox="1"/>
          <p:nvPr/>
        </p:nvSpPr>
        <p:spPr>
          <a:xfrm>
            <a:off x="1584554" y="1839656"/>
            <a:ext cx="19568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ea typeface="Apple Symbols" panose="02000000000000000000" pitchFamily="2" charset="-79"/>
                <a:cs typeface="Times New Roman" panose="02020603050405020304" pitchFamily="18" charset="0"/>
              </a:rPr>
              <a:t>@apply</a:t>
            </a:r>
            <a:r>
              <a:rPr lang="en-US" altLang="zh-CN" sz="1400" dirty="0">
                <a:latin typeface="Times New Roman" panose="02020603050405020304" pitchFamily="18" charset="0"/>
                <a:ea typeface="Microsoft GothicNeo" panose="02000300000000000000" pitchFamily="2" charset="-127"/>
                <a:cs typeface="Times New Roman" panose="02020603050405020304" pitchFamily="18" charset="0"/>
              </a:rPr>
              <a:t> </a:t>
            </a:r>
            <a:r>
              <a:rPr lang="zh-CN" altLang="en-US" sz="1400" dirty="0">
                <a:latin typeface="Times New Roman" panose="02020603050405020304" pitchFamily="18" charset="0"/>
                <a:ea typeface="Apple Symbols" panose="02000000000000000000" pitchFamily="2" charset="-79"/>
                <a:cs typeface="Times New Roman" panose="02020603050405020304" pitchFamily="18" charset="0"/>
              </a:rPr>
              <a:t>method is</a:t>
            </a:r>
            <a:r>
              <a:rPr lang="en-US" altLang="zh-CN" sz="1400" dirty="0">
                <a:latin typeface="Times New Roman" panose="02020603050405020304" pitchFamily="18" charset="0"/>
                <a:ea typeface="Microsoft GothicNeo" panose="02000300000000000000" pitchFamily="2" charset="-127"/>
                <a:cs typeface="Times New Roman" panose="02020603050405020304" pitchFamily="18" charset="0"/>
              </a:rPr>
              <a:t> </a:t>
            </a:r>
            <a:r>
              <a:rPr lang="zh-CN" altLang="en-US" sz="1400" dirty="0">
                <a:latin typeface="Times New Roman" panose="02020603050405020304" pitchFamily="18" charset="0"/>
                <a:ea typeface="Apple Symbols" panose="02000000000000000000" pitchFamily="2" charset="-79"/>
                <a:cs typeface="Times New Roman" panose="02020603050405020304" pitchFamily="18" charset="0"/>
              </a:rPr>
              <a:t>invalid after upgrade to 3.3.1</a:t>
            </a:r>
            <a:r>
              <a:rPr lang="en-US" altLang="zh-CN" sz="1400" dirty="0">
                <a:latin typeface="Times New Roman" panose="02020603050405020304" pitchFamily="18" charset="0"/>
                <a:ea typeface="Microsoft GothicNeo" panose="02000300000000000000" pitchFamily="2" charset="-127"/>
                <a:cs typeface="Times New Roman" panose="02020603050405020304" pitchFamily="18" charset="0"/>
              </a:rPr>
              <a:t>…</a:t>
            </a:r>
            <a:r>
              <a:rPr lang="zh-CN" altLang="en-US" sz="1400" dirty="0">
                <a:latin typeface="Times New Roman" panose="02020603050405020304" pitchFamily="18" charset="0"/>
                <a:ea typeface="Apple Symbols" panose="02000000000000000000" pitchFamily="2" charset="-79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BE890B5E-E694-F212-D126-E3CFFFD05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9737" y="1592213"/>
            <a:ext cx="775169" cy="775169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FCAA5564-2972-DC5F-8047-2A98AC42FDA2}"/>
              </a:ext>
            </a:extLst>
          </p:cNvPr>
          <p:cNvSpPr txBox="1"/>
          <p:nvPr/>
        </p:nvSpPr>
        <p:spPr>
          <a:xfrm>
            <a:off x="4816366" y="1067549"/>
            <a:ext cx="7104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LLM</a:t>
            </a:r>
            <a:endParaRPr kumimoji="1" lang="zh-CN" altLang="en-US" b="1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1AFE80F2-2FD2-6B6B-4695-E02A8478E2DC}"/>
              </a:ext>
            </a:extLst>
          </p:cNvPr>
          <p:cNvCxnSpPr>
            <a:cxnSpLocks/>
          </p:cNvCxnSpPr>
          <p:nvPr/>
        </p:nvCxnSpPr>
        <p:spPr>
          <a:xfrm>
            <a:off x="5791745" y="2000131"/>
            <a:ext cx="1374228" cy="7898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w="lg" len="lg"/>
            <a:tailEnd type="triangle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DB6C7D6F-625A-EAE7-6BD9-A46AB0FEBCBA}"/>
              </a:ext>
            </a:extLst>
          </p:cNvPr>
          <p:cNvSpPr/>
          <p:nvPr/>
        </p:nvSpPr>
        <p:spPr>
          <a:xfrm>
            <a:off x="7308745" y="1504136"/>
            <a:ext cx="2344520" cy="911590"/>
          </a:xfrm>
          <a:prstGeom prst="roundRect">
            <a:avLst>
              <a:gd name="adj" fmla="val 10359"/>
            </a:avLst>
          </a:prstGeom>
          <a:solidFill>
            <a:schemeClr val="bg1">
              <a:lumMod val="75000"/>
              <a:alpha val="28970"/>
            </a:schemeClr>
          </a:solidFill>
          <a:ln w="28575">
            <a:solidFill>
              <a:schemeClr val="tx1">
                <a:lumMod val="50000"/>
                <a:lumOff val="50000"/>
                <a:alpha val="66805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9653DE0-C21C-E23B-7DE1-DA9831B30FF7}"/>
              </a:ext>
            </a:extLst>
          </p:cNvPr>
          <p:cNvSpPr txBox="1"/>
          <p:nvPr/>
        </p:nvSpPr>
        <p:spPr>
          <a:xfrm>
            <a:off x="7509722" y="1520621"/>
            <a:ext cx="814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Patch:</a:t>
            </a:r>
            <a:endParaRPr kumimoji="1" lang="zh-CN" altLang="en-US" sz="1600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AA5FE5FF-744B-40EB-4644-66F43FAA6B6B}"/>
              </a:ext>
            </a:extLst>
          </p:cNvPr>
          <p:cNvSpPr txBox="1"/>
          <p:nvPr/>
        </p:nvSpPr>
        <p:spPr>
          <a:xfrm>
            <a:off x="8236726" y="1555682"/>
            <a:ext cx="4876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+12</a:t>
            </a:r>
            <a:endParaRPr kumimoji="1" lang="zh-CN" altLang="en-US" sz="1400" b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EEBE6656-E27E-2BEA-ED44-D9BB78714565}"/>
              </a:ext>
            </a:extLst>
          </p:cNvPr>
          <p:cNvSpPr txBox="1"/>
          <p:nvPr/>
        </p:nvSpPr>
        <p:spPr>
          <a:xfrm>
            <a:off x="8608301" y="1550816"/>
            <a:ext cx="4427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-20</a:t>
            </a:r>
            <a:endParaRPr kumimoji="1" lang="zh-CN" altLang="en-US" sz="1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2596EE7-6BC5-BCCA-3F65-70FB523836D7}"/>
              </a:ext>
            </a:extLst>
          </p:cNvPr>
          <p:cNvSpPr/>
          <p:nvPr/>
        </p:nvSpPr>
        <p:spPr>
          <a:xfrm>
            <a:off x="8983423" y="1661488"/>
            <a:ext cx="108000" cy="10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C92C6CE-4EA3-AE9F-D9C0-1323D007EA0E}"/>
              </a:ext>
            </a:extLst>
          </p:cNvPr>
          <p:cNvSpPr/>
          <p:nvPr/>
        </p:nvSpPr>
        <p:spPr>
          <a:xfrm>
            <a:off x="9112186" y="1661488"/>
            <a:ext cx="108000" cy="10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8BD5329-1D92-C6E6-91C8-056787B5524C}"/>
              </a:ext>
            </a:extLst>
          </p:cNvPr>
          <p:cNvSpPr/>
          <p:nvPr/>
        </p:nvSpPr>
        <p:spPr>
          <a:xfrm>
            <a:off x="9239934" y="1660633"/>
            <a:ext cx="108000" cy="10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5353894-A278-724C-33AC-212A7C47AB49}"/>
              </a:ext>
            </a:extLst>
          </p:cNvPr>
          <p:cNvSpPr/>
          <p:nvPr/>
        </p:nvSpPr>
        <p:spPr>
          <a:xfrm>
            <a:off x="9368697" y="1660633"/>
            <a:ext cx="108000" cy="10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D3957F2-D207-D113-757E-A1F59ACA505F}"/>
              </a:ext>
            </a:extLst>
          </p:cNvPr>
          <p:cNvSpPr/>
          <p:nvPr/>
        </p:nvSpPr>
        <p:spPr>
          <a:xfrm>
            <a:off x="9497460" y="1660633"/>
            <a:ext cx="108000" cy="108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055DFE2-C89B-599A-78BB-F2E4F6E67C69}"/>
              </a:ext>
            </a:extLst>
          </p:cNvPr>
          <p:cNvSpPr/>
          <p:nvPr/>
        </p:nvSpPr>
        <p:spPr>
          <a:xfrm>
            <a:off x="7363173" y="1883004"/>
            <a:ext cx="2242287" cy="489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E399C4A9-FF7A-B670-CF72-AD7874351D66}"/>
              </a:ext>
            </a:extLst>
          </p:cNvPr>
          <p:cNvSpPr/>
          <p:nvPr/>
        </p:nvSpPr>
        <p:spPr>
          <a:xfrm>
            <a:off x="7436514" y="1967833"/>
            <a:ext cx="108000" cy="10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8E975894-3556-3041-FB80-945D6683A11F}"/>
              </a:ext>
            </a:extLst>
          </p:cNvPr>
          <p:cNvSpPr/>
          <p:nvPr/>
        </p:nvSpPr>
        <p:spPr>
          <a:xfrm>
            <a:off x="7436514" y="2073737"/>
            <a:ext cx="108000" cy="216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1769B21-E404-BCA4-7E8F-39F8CF3D358F}"/>
              </a:ext>
            </a:extLst>
          </p:cNvPr>
          <p:cNvSpPr/>
          <p:nvPr/>
        </p:nvSpPr>
        <p:spPr>
          <a:xfrm>
            <a:off x="7544657" y="1965737"/>
            <a:ext cx="2060803" cy="108000"/>
          </a:xfrm>
          <a:prstGeom prst="rect">
            <a:avLst/>
          </a:prstGeom>
          <a:solidFill>
            <a:srgbClr val="D8EA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69FE2808-FA4B-BD1C-F9AB-7F3F9AF0E185}"/>
              </a:ext>
            </a:extLst>
          </p:cNvPr>
          <p:cNvSpPr/>
          <p:nvPr/>
        </p:nvSpPr>
        <p:spPr>
          <a:xfrm>
            <a:off x="7546996" y="2076741"/>
            <a:ext cx="2058464" cy="216000"/>
          </a:xfrm>
          <a:prstGeom prst="rect">
            <a:avLst/>
          </a:prstGeom>
          <a:solidFill>
            <a:srgbClr val="F4CC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72FF7F81-8FBA-59B0-E515-85BFFEBA9F98}"/>
              </a:ext>
            </a:extLst>
          </p:cNvPr>
          <p:cNvSpPr txBox="1"/>
          <p:nvPr/>
        </p:nvSpPr>
        <p:spPr>
          <a:xfrm>
            <a:off x="3455621" y="1525097"/>
            <a:ext cx="14257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Input</a:t>
            </a:r>
            <a:endParaRPr kumimoji="1" lang="zh-CN" altLang="en-US" sz="1400" b="1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AEAAA34E-745B-0C30-B048-492B091744B9}"/>
              </a:ext>
            </a:extLst>
          </p:cNvPr>
          <p:cNvSpPr txBox="1"/>
          <p:nvPr/>
        </p:nvSpPr>
        <p:spPr>
          <a:xfrm>
            <a:off x="5911001" y="1678985"/>
            <a:ext cx="8931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Generate</a:t>
            </a:r>
            <a:endParaRPr kumimoji="1" lang="zh-CN" altLang="en-US" sz="1400" b="1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50" name="图片 49">
            <a:extLst>
              <a:ext uri="{FF2B5EF4-FFF2-40B4-BE49-F238E27FC236}">
                <a16:creationId xmlns:a16="http://schemas.microsoft.com/office/drawing/2014/main" id="{70B7E34B-3ABF-0E5C-3E8B-5BA6BF652D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6639" y="1575473"/>
            <a:ext cx="261239" cy="261239"/>
          </a:xfrm>
          <a:prstGeom prst="rect">
            <a:avLst/>
          </a:prstGeom>
        </p:spPr>
      </p:pic>
      <p:sp>
        <p:nvSpPr>
          <p:cNvPr id="54" name="文本框 53">
            <a:extLst>
              <a:ext uri="{FF2B5EF4-FFF2-40B4-BE49-F238E27FC236}">
                <a16:creationId xmlns:a16="http://schemas.microsoft.com/office/drawing/2014/main" id="{3257D1FA-884C-FAED-55B1-647722C619D5}"/>
              </a:ext>
            </a:extLst>
          </p:cNvPr>
          <p:cNvSpPr txBox="1"/>
          <p:nvPr/>
        </p:nvSpPr>
        <p:spPr>
          <a:xfrm rot="5400000">
            <a:off x="326237" y="1738050"/>
            <a:ext cx="1587247" cy="33855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(a) Inference</a:t>
            </a:r>
            <a:endParaRPr kumimoji="1" lang="zh-CN" altLang="en-US" sz="16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9AD68D1-C807-2BEC-AE99-4662E1C108EA}"/>
              </a:ext>
            </a:extLst>
          </p:cNvPr>
          <p:cNvSpPr txBox="1"/>
          <p:nvPr/>
        </p:nvSpPr>
        <p:spPr>
          <a:xfrm rot="5400000">
            <a:off x="258121" y="3800857"/>
            <a:ext cx="1678782" cy="33855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(b) Evaluation</a:t>
            </a:r>
            <a:endParaRPr kumimoji="1" lang="zh-CN" altLang="en-US" sz="16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57" name="图片 56">
            <a:extLst>
              <a:ext uri="{FF2B5EF4-FFF2-40B4-BE49-F238E27FC236}">
                <a16:creationId xmlns:a16="http://schemas.microsoft.com/office/drawing/2014/main" id="{CA41B09A-F1C0-50F4-40B3-4B9374288E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9272" y="3497853"/>
            <a:ext cx="1192931" cy="1192931"/>
          </a:xfrm>
          <a:prstGeom prst="rect">
            <a:avLst/>
          </a:prstGeom>
        </p:spPr>
      </p:pic>
      <p:sp>
        <p:nvSpPr>
          <p:cNvPr id="58" name="文本框 57">
            <a:extLst>
              <a:ext uri="{FF2B5EF4-FFF2-40B4-BE49-F238E27FC236}">
                <a16:creationId xmlns:a16="http://schemas.microsoft.com/office/drawing/2014/main" id="{52C8C342-BDF8-D89B-B767-8C72A7FB570F}"/>
              </a:ext>
            </a:extLst>
          </p:cNvPr>
          <p:cNvSpPr txBox="1"/>
          <p:nvPr/>
        </p:nvSpPr>
        <p:spPr>
          <a:xfrm>
            <a:off x="1762603" y="3093650"/>
            <a:ext cx="1418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Codebase</a:t>
            </a:r>
            <a:endParaRPr kumimoji="1" lang="zh-CN" altLang="en-US" b="1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60" name="肘形连接符 59">
            <a:extLst>
              <a:ext uri="{FF2B5EF4-FFF2-40B4-BE49-F238E27FC236}">
                <a16:creationId xmlns:a16="http://schemas.microsoft.com/office/drawing/2014/main" id="{8519BD0D-407F-0D01-1333-0161DD0B1BBA}"/>
              </a:ext>
            </a:extLst>
          </p:cNvPr>
          <p:cNvCxnSpPr>
            <a:cxnSpLocks/>
          </p:cNvCxnSpPr>
          <p:nvPr/>
        </p:nvCxnSpPr>
        <p:spPr>
          <a:xfrm flipV="1">
            <a:off x="2996148" y="2216402"/>
            <a:ext cx="1633604" cy="1587245"/>
          </a:xfrm>
          <a:prstGeom prst="bentConnector3">
            <a:avLst>
              <a:gd name="adj1" fmla="val 45286"/>
            </a:avLst>
          </a:prstGeom>
          <a:ln w="28575">
            <a:solidFill>
              <a:schemeClr val="tx1"/>
            </a:solidFill>
            <a:prstDash val="sysDot"/>
            <a:tailEnd type="triangle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6B740724-AC1B-D051-0009-D52747C64E4B}"/>
              </a:ext>
            </a:extLst>
          </p:cNvPr>
          <p:cNvCxnSpPr>
            <a:cxnSpLocks/>
          </p:cNvCxnSpPr>
          <p:nvPr/>
        </p:nvCxnSpPr>
        <p:spPr>
          <a:xfrm>
            <a:off x="2996148" y="4197043"/>
            <a:ext cx="1431473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w="lg" len="lg"/>
            <a:tailEnd type="triangle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文本框 71">
            <a:extLst>
              <a:ext uri="{FF2B5EF4-FFF2-40B4-BE49-F238E27FC236}">
                <a16:creationId xmlns:a16="http://schemas.microsoft.com/office/drawing/2014/main" id="{7525DC95-670A-B967-1832-585B075DDED5}"/>
              </a:ext>
            </a:extLst>
          </p:cNvPr>
          <p:cNvSpPr txBox="1"/>
          <p:nvPr/>
        </p:nvSpPr>
        <p:spPr>
          <a:xfrm>
            <a:off x="4273422" y="3130743"/>
            <a:ext cx="2195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Edited Codebase</a:t>
            </a:r>
            <a:endParaRPr kumimoji="1" lang="zh-CN" altLang="en-US" b="1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86" name="曲线连接符 85">
            <a:extLst>
              <a:ext uri="{FF2B5EF4-FFF2-40B4-BE49-F238E27FC236}">
                <a16:creationId xmlns:a16="http://schemas.microsoft.com/office/drawing/2014/main" id="{6EDC512A-408F-B3D6-4FB5-F412076BEADB}"/>
              </a:ext>
            </a:extLst>
          </p:cNvPr>
          <p:cNvCxnSpPr>
            <a:cxnSpLocks/>
            <a:stCxn id="26" idx="2"/>
            <a:endCxn id="72" idx="3"/>
          </p:cNvCxnSpPr>
          <p:nvPr/>
        </p:nvCxnSpPr>
        <p:spPr>
          <a:xfrm rot="5400000">
            <a:off x="7025181" y="1859584"/>
            <a:ext cx="899683" cy="2011966"/>
          </a:xfrm>
          <a:prstGeom prst="curvedConnector2">
            <a:avLst/>
          </a:prstGeom>
          <a:ln w="28575">
            <a:solidFill>
              <a:schemeClr val="tx1"/>
            </a:solidFill>
            <a:prstDash val="sysDot"/>
            <a:headEnd w="lg" len="lg"/>
            <a:tailEnd type="triangle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文本框 88">
            <a:extLst>
              <a:ext uri="{FF2B5EF4-FFF2-40B4-BE49-F238E27FC236}">
                <a16:creationId xmlns:a16="http://schemas.microsoft.com/office/drawing/2014/main" id="{80FBFE10-97AC-902F-657A-BECF83DB9D8E}"/>
              </a:ext>
            </a:extLst>
          </p:cNvPr>
          <p:cNvSpPr txBox="1"/>
          <p:nvPr/>
        </p:nvSpPr>
        <p:spPr>
          <a:xfrm rot="20845264">
            <a:off x="6871219" y="2926999"/>
            <a:ext cx="6527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Apply</a:t>
            </a:r>
            <a:endParaRPr kumimoji="1" lang="zh-CN" altLang="en-US" sz="1400" b="1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4" name="直线箭头连接符 93">
            <a:extLst>
              <a:ext uri="{FF2B5EF4-FFF2-40B4-BE49-F238E27FC236}">
                <a16:creationId xmlns:a16="http://schemas.microsoft.com/office/drawing/2014/main" id="{347DF561-035F-E34E-41BF-3379F64BCF87}"/>
              </a:ext>
            </a:extLst>
          </p:cNvPr>
          <p:cNvCxnSpPr>
            <a:cxnSpLocks/>
          </p:cNvCxnSpPr>
          <p:nvPr/>
        </p:nvCxnSpPr>
        <p:spPr>
          <a:xfrm>
            <a:off x="6020398" y="4215886"/>
            <a:ext cx="1232691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w="lg" len="lg"/>
            <a:tailEnd type="triangle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E406BDAC-6F49-17B4-803F-BE65B3351F61}"/>
              </a:ext>
            </a:extLst>
          </p:cNvPr>
          <p:cNvSpPr txBox="1"/>
          <p:nvPr/>
        </p:nvSpPr>
        <p:spPr>
          <a:xfrm>
            <a:off x="5950286" y="3877331"/>
            <a:ext cx="12774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Running Tests</a:t>
            </a:r>
            <a:endParaRPr kumimoji="1" lang="zh-CN" altLang="en-US" sz="1400" b="1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CD54C8D6-FFA3-D35C-E0B9-78E0F9C4C650}"/>
              </a:ext>
            </a:extLst>
          </p:cNvPr>
          <p:cNvSpPr txBox="1"/>
          <p:nvPr/>
        </p:nvSpPr>
        <p:spPr>
          <a:xfrm>
            <a:off x="7372863" y="3253204"/>
            <a:ext cx="2195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Test Log</a:t>
            </a:r>
            <a:endParaRPr kumimoji="1" lang="zh-CN" altLang="en-US" b="1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5" name="圆角矩形 104">
            <a:extLst>
              <a:ext uri="{FF2B5EF4-FFF2-40B4-BE49-F238E27FC236}">
                <a16:creationId xmlns:a16="http://schemas.microsoft.com/office/drawing/2014/main" id="{1B549B90-DDED-A76B-C7E7-8F1D2AAE63AC}"/>
              </a:ext>
            </a:extLst>
          </p:cNvPr>
          <p:cNvSpPr/>
          <p:nvPr/>
        </p:nvSpPr>
        <p:spPr>
          <a:xfrm>
            <a:off x="7324167" y="3648067"/>
            <a:ext cx="2343165" cy="1097952"/>
          </a:xfrm>
          <a:prstGeom prst="roundRect">
            <a:avLst>
              <a:gd name="adj" fmla="val 8745"/>
            </a:avLst>
          </a:prstGeom>
          <a:solidFill>
            <a:srgbClr val="00B050">
              <a:alpha val="30000"/>
            </a:srgbClr>
          </a:solidFill>
          <a:ln w="28575">
            <a:solidFill>
              <a:srgbClr val="00B050">
                <a:alpha val="58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4" name="图片 103">
            <a:extLst>
              <a:ext uri="{FF2B5EF4-FFF2-40B4-BE49-F238E27FC236}">
                <a16:creationId xmlns:a16="http://schemas.microsoft.com/office/drawing/2014/main" id="{F03CDEC0-3697-FEFA-4ECA-02A3E53753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3330" y="3824985"/>
            <a:ext cx="208198" cy="208198"/>
          </a:xfrm>
          <a:prstGeom prst="rect">
            <a:avLst/>
          </a:prstGeom>
        </p:spPr>
      </p:pic>
      <p:sp>
        <p:nvSpPr>
          <p:cNvPr id="107" name="文本框 106">
            <a:extLst>
              <a:ext uri="{FF2B5EF4-FFF2-40B4-BE49-F238E27FC236}">
                <a16:creationId xmlns:a16="http://schemas.microsoft.com/office/drawing/2014/main" id="{70E889BC-0B33-BF0D-AFC2-3B46406BC50C}"/>
              </a:ext>
            </a:extLst>
          </p:cNvPr>
          <p:cNvSpPr txBox="1"/>
          <p:nvPr/>
        </p:nvSpPr>
        <p:spPr>
          <a:xfrm>
            <a:off x="7575790" y="3758635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Pass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FF632623-0DC1-13D2-A7AE-DE0B772049EF}"/>
              </a:ext>
            </a:extLst>
          </p:cNvPr>
          <p:cNvSpPr txBox="1"/>
          <p:nvPr/>
        </p:nvSpPr>
        <p:spPr>
          <a:xfrm>
            <a:off x="8138067" y="3844445"/>
            <a:ext cx="156660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Apple Symbols" panose="02000000000000000000" pitchFamily="2" charset="-79"/>
              </a:rPr>
              <a:t>tests/apply.test.js</a:t>
            </a: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9A569A39-01B7-2368-6E67-141115E5322B}"/>
              </a:ext>
            </a:extLst>
          </p:cNvPr>
          <p:cNvSpPr/>
          <p:nvPr/>
        </p:nvSpPr>
        <p:spPr>
          <a:xfrm>
            <a:off x="7458494" y="4110273"/>
            <a:ext cx="2093720" cy="553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" altLang="zh-CN" sz="1100" dirty="0">
                <a:solidFill>
                  <a:schemeClr val="tx1"/>
                </a:solidFill>
                <a:latin typeface="Times New Roman" panose="02020603050405020304" pitchFamily="18" charset="0"/>
                <a:ea typeface="Apple Symbols" panose="02000000000000000000" pitchFamily="2" charset="-79"/>
                <a:cs typeface="Times New Roman" panose="02020603050405020304" pitchFamily="18" charset="0"/>
              </a:rPr>
              <a:t> Stable</a:t>
            </a:r>
          </a:p>
          <a:p>
            <a:r>
              <a:rPr kumimoji="1" lang="en" altLang="zh-CN" sz="1100" dirty="0">
                <a:solidFill>
                  <a:schemeClr val="tx1"/>
                </a:solidFill>
                <a:latin typeface="Times New Roman" panose="02020603050405020304" pitchFamily="18" charset="0"/>
                <a:ea typeface="Apple Symbols" panose="02000000000000000000" pitchFamily="2" charset="-79"/>
                <a:cs typeface="Times New Roman" panose="02020603050405020304" pitchFamily="18" charset="0"/>
              </a:rPr>
              <a:t>    ✓ @apply (207 </a:t>
            </a:r>
            <a:r>
              <a:rPr kumimoji="1" lang="en" altLang="zh-CN" sz="1100" dirty="0" err="1">
                <a:solidFill>
                  <a:schemeClr val="tx1"/>
                </a:solidFill>
                <a:latin typeface="Times New Roman" panose="02020603050405020304" pitchFamily="18" charset="0"/>
                <a:ea typeface="Apple Symbols" panose="02000000000000000000" pitchFamily="2" charset="-79"/>
                <a:cs typeface="Times New Roman" panose="02020603050405020304" pitchFamily="18" charset="0"/>
              </a:rPr>
              <a:t>ms</a:t>
            </a:r>
            <a:r>
              <a:rPr kumimoji="1" lang="en" altLang="zh-CN" sz="1100" dirty="0">
                <a:solidFill>
                  <a:schemeClr val="tx1"/>
                </a:solidFill>
                <a:latin typeface="Times New Roman" panose="02020603050405020304" pitchFamily="18" charset="0"/>
                <a:ea typeface="Apple Symbols" panose="02000000000000000000" pitchFamily="2" charset="-79"/>
                <a:cs typeface="Times New Roman" panose="02020603050405020304" pitchFamily="18" charset="0"/>
              </a:rPr>
              <a:t>)</a:t>
            </a:r>
          </a:p>
          <a:p>
            <a:r>
              <a:rPr kumimoji="1" lang="en" altLang="zh-CN" sz="1100" dirty="0">
                <a:solidFill>
                  <a:schemeClr val="tx1"/>
                </a:solidFill>
                <a:latin typeface="Times New Roman" panose="02020603050405020304" pitchFamily="18" charset="0"/>
                <a:ea typeface="Apple Symbols" panose="02000000000000000000" pitchFamily="2" charset="-79"/>
                <a:cs typeface="Times New Roman" panose="02020603050405020304" pitchFamily="18" charset="0"/>
              </a:rPr>
              <a:t>    ✓ @apply error with unknown.. </a:t>
            </a:r>
            <a:endParaRPr kumimoji="1" lang="zh-CN" altLang="en-US" sz="1100" dirty="0">
              <a:solidFill>
                <a:schemeClr val="tx1"/>
              </a:solidFill>
              <a:latin typeface="Times New Roman" panose="02020603050405020304" pitchFamily="18" charset="0"/>
              <a:ea typeface="Apple Symbols" panose="02000000000000000000" pitchFamily="2" charset="-79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98EF3BB-BBB3-205C-CEF4-5B48F693A5F8}"/>
              </a:ext>
            </a:extLst>
          </p:cNvPr>
          <p:cNvSpPr txBox="1"/>
          <p:nvPr/>
        </p:nvSpPr>
        <p:spPr>
          <a:xfrm>
            <a:off x="1430275" y="1049652"/>
            <a:ext cx="228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Issue Descriptions</a:t>
            </a:r>
            <a:endParaRPr kumimoji="1" lang="zh-CN" altLang="en-US" b="1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D45D6D7-C821-E39C-77E2-9976A037A187}"/>
              </a:ext>
            </a:extLst>
          </p:cNvPr>
          <p:cNvSpPr txBox="1"/>
          <p:nvPr/>
        </p:nvSpPr>
        <p:spPr>
          <a:xfrm>
            <a:off x="7176968" y="1069512"/>
            <a:ext cx="2607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Generated Patch</a:t>
            </a:r>
            <a:endParaRPr kumimoji="1" lang="zh-CN" altLang="en-US" b="1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AE47158-B795-1128-5E42-A25099FAD86A}"/>
              </a:ext>
            </a:extLst>
          </p:cNvPr>
          <p:cNvSpPr txBox="1"/>
          <p:nvPr/>
        </p:nvSpPr>
        <p:spPr>
          <a:xfrm>
            <a:off x="3448478" y="2198461"/>
            <a:ext cx="14112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Input</a:t>
            </a:r>
            <a:endParaRPr kumimoji="1" lang="zh-CN" altLang="en-US" sz="1400" b="1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1F189038-C802-1F60-277C-9D501532BAE9}"/>
              </a:ext>
            </a:extLst>
          </p:cNvPr>
          <p:cNvGrpSpPr/>
          <p:nvPr/>
        </p:nvGrpSpPr>
        <p:grpSpPr>
          <a:xfrm>
            <a:off x="4502787" y="3580749"/>
            <a:ext cx="1422639" cy="1219378"/>
            <a:chOff x="5051631" y="4235734"/>
            <a:chExt cx="1422639" cy="1219378"/>
          </a:xfrm>
        </p:grpSpPr>
        <p:pic>
          <p:nvPicPr>
            <p:cNvPr id="71" name="图片 70">
              <a:extLst>
                <a:ext uri="{FF2B5EF4-FFF2-40B4-BE49-F238E27FC236}">
                  <a16:creationId xmlns:a16="http://schemas.microsoft.com/office/drawing/2014/main" id="{A3074A5E-A46B-79D7-FA47-13A0A0DE3DC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051631" y="4235734"/>
              <a:ext cx="1219378" cy="1219378"/>
            </a:xfrm>
            <a:prstGeom prst="rect">
              <a:avLst/>
            </a:prstGeom>
          </p:spPr>
        </p:pic>
        <p:pic>
          <p:nvPicPr>
            <p:cNvPr id="77" name="图片 76">
              <a:extLst>
                <a:ext uri="{FF2B5EF4-FFF2-40B4-BE49-F238E27FC236}">
                  <a16:creationId xmlns:a16="http://schemas.microsoft.com/office/drawing/2014/main" id="{2365F5F4-B7B6-4DAE-B32F-AA1C4DD9129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169143" y="4235734"/>
              <a:ext cx="305127" cy="305127"/>
            </a:xfrm>
            <a:prstGeom prst="rect">
              <a:avLst/>
            </a:prstGeom>
          </p:spPr>
        </p:pic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E4F1A35A-0A7C-7015-B68C-80177A833834}"/>
                </a:ext>
              </a:extLst>
            </p:cNvPr>
            <p:cNvSpPr/>
            <p:nvPr/>
          </p:nvSpPr>
          <p:spPr>
            <a:xfrm>
              <a:off x="6164642" y="4611364"/>
              <a:ext cx="302586" cy="305126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F8A210D9-63F5-F166-E3D3-BCF906057E76}"/>
              </a:ext>
            </a:extLst>
          </p:cNvPr>
          <p:cNvSpPr/>
          <p:nvPr/>
        </p:nvSpPr>
        <p:spPr>
          <a:xfrm>
            <a:off x="5661936" y="4093671"/>
            <a:ext cx="203701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791101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16402</TotalTime>
  <Words>198</Words>
  <Application>Microsoft Macintosh PowerPoint</Application>
  <PresentationFormat>Widescreen</PresentationFormat>
  <Paragraphs>75</Paragraphs>
  <Slides>3</Slides>
  <Notes>3</Notes>
  <HiddenSlides>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等线</vt:lpstr>
      <vt:lpstr>等线 Light</vt:lpstr>
      <vt:lpstr>Microsoft YaHei</vt:lpstr>
      <vt:lpstr>Microsoft YaHei</vt:lpstr>
      <vt:lpstr>Arial</vt:lpstr>
      <vt:lpstr>Times New Roman</vt:lpstr>
      <vt:lpstr>Office 主题​​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亮宏 郭</dc:creator>
  <cp:lastModifiedBy>Yanlin Wang</cp:lastModifiedBy>
  <cp:revision>78</cp:revision>
  <cp:lastPrinted>2024-10-31T17:12:34Z</cp:lastPrinted>
  <dcterms:created xsi:type="dcterms:W3CDTF">2024-10-13T15:23:45Z</dcterms:created>
  <dcterms:modified xsi:type="dcterms:W3CDTF">2024-10-31T17:24:49Z</dcterms:modified>
</cp:coreProperties>
</file>