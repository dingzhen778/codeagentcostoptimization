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7" r:id="rId2"/>
    <p:sldId id="269" r:id="rId3"/>
    <p:sldId id="270" r:id="rId4"/>
    <p:sldId id="27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60"/>
    <p:restoredTop sz="94659"/>
  </p:normalViewPr>
  <p:slideViewPr>
    <p:cSldViewPr snapToGrid="0">
      <p:cViewPr>
        <p:scale>
          <a:sx n="120" d="100"/>
          <a:sy n="120" d="100"/>
        </p:scale>
        <p:origin x="90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40EA9-1CC2-1846-BE9A-CCB00E2F4495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8C649-B5AE-6244-B29E-AE20D6DB7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413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v2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C649-B5AE-6244-B29E-AE20D6DB7D9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316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V3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8695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V3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7246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V4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4801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A198B-E930-259A-3327-E14A757C7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6CA78B-BEC3-7B7E-42B4-7F8706F32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272F6-DC15-E7B7-658D-B710536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D2E19-303C-57C9-D134-B2381C19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AD7F1-CBB4-4314-E1F8-714093F7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857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55296-7F6E-34BA-EE21-CDC8BA02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2402E3-CE99-4549-AD41-939D14656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8DF858-8257-5A81-8AB5-95D98A78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29D3A-49CB-2FC5-6E6C-E87AAEEF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9E56E-F60B-9247-1885-68A2D98C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734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61EC-D86A-3C53-FD6C-2765DB7C0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438AD0-80BE-4029-0B70-AA2188D79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0A1164-78DC-E336-D39D-D0D63FDA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DAFC2-3A31-0BFB-9B0E-81D68228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EA2BDE-1075-ADEF-0681-36C6F32A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670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B0E69-407D-6D8F-CC82-477CDCB4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06823-D481-05F5-7985-FCE08DAB2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1993C2-2D8D-9CDC-1E83-64E30E55B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CE1B7-0ECA-8B96-2649-EE31031C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9F05F4-E8FA-BEBE-E76A-D88CFB88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AC3EB-C322-831B-01E3-B238DC37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54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3F0FF-483F-7FCA-2607-0C849EF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AE80E-E7F7-5AE3-533D-3DAEBCB65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C0E4BB-5190-FEE5-3ECA-F27A0188F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056615-71E8-05BD-ADC4-8F4F3301D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4F02A6-4E23-A2AE-9334-11D0E1F13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FC9FD6-A918-A315-36F5-C05E1A18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490D39-963E-03D8-C210-9EF089DF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3EB498-BBF5-BDD6-FAC6-3EDB061E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008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5BA93-ED55-AAAB-E7C6-610CCAD8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A95298-7DC5-B122-2455-B84CEA8B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4DBE9F-E7B0-2092-C981-527A28D1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A084F1-6B2C-6722-CFC6-6B9E70CD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860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52369E-6DFF-D4AB-EB03-0B854FCB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A4CE9C-E749-3CD2-F97E-7943E7C9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977C0-32DE-6F94-6B84-43AF23FF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21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0AF95-EEDD-3883-D8C6-2AE0A1CD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B4FFD9-B1FF-6C96-1C4F-8C97A8EBD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0F3B64-BE78-5439-3BAC-7FD68D95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3D8676-04B5-3594-D27F-0E0F9466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014CDD-923B-EBFE-2031-4E07F658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B989F8-6614-EADA-C83F-5A82812D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5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F3C23-E333-6511-09FC-F86CD620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6DF2FB-339E-A8F1-DF96-0C20C4267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833421-3D89-840A-02FC-AC3FE89B9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299E96-054E-7F54-09D5-9978099E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21990-46DE-2F23-ED06-6E6895B4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33BBC6-106F-FF04-7062-7B88AF1C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843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0D5A4-6942-8062-E6AE-39C53666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041DEA-68B8-56C6-3C7F-C599E6187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A4D07-C77B-8BC9-62D8-AE077C7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9355E-E58E-5B9C-07BB-BF304BAE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CEBCD-0B13-BEC2-F6CC-D275468D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890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413E90-5ACF-A2BD-A70A-0679C0A1B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1D991F-4ED7-685F-32F4-C9DA453D9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34DE7-80DA-0AE0-9440-21A15E84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3B7E6E-9B59-BCBB-A64B-178B6810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881BE8-E49D-0C77-44D2-5E22D00C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081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0DE6A8-E7EE-A68D-A2B8-B3E725F99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7A43AD-AB13-0CB0-E4FC-9EE1B8C59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48765E-7AC6-E475-5582-B9A637E9C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21247-6966-684E-9B75-9C11A07A4583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4752B-8C9A-30E0-EA21-96951E778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436FA-E367-7D46-63E4-FA8F3209C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D51B8-9B49-244C-A182-695C63C770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174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play.tailwindcss.com/5KJf7xDKv6" TargetMode="External"/><Relationship Id="rId4" Type="http://schemas.openxmlformats.org/officeDocument/2006/relationships/hyperlink" Target="https://play.tailwindcss.com/0VLICQ8oU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tailwindcss.com/0VLICQ8oU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play.tailwindcss.com/5KJf7xDKv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tailwindcss.com/0VLICQ8oU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play.tailwindcss.com/5KJf7xDKv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tailwindcss.com/0VLICQ8oU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play.tailwindcss.com/5KJf7xDKv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A198-D296-6B43-E2A4-8F5A399F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同侧圆角矩形 34">
            <a:extLst>
              <a:ext uri="{FF2B5EF4-FFF2-40B4-BE49-F238E27FC236}">
                <a16:creationId xmlns:a16="http://schemas.microsoft.com/office/drawing/2014/main" id="{3168982B-395F-BF7A-3B02-5F2B5FC6D323}"/>
              </a:ext>
            </a:extLst>
          </p:cNvPr>
          <p:cNvSpPr/>
          <p:nvPr/>
        </p:nvSpPr>
        <p:spPr>
          <a:xfrm>
            <a:off x="639588" y="647447"/>
            <a:ext cx="11118521" cy="911609"/>
          </a:xfrm>
          <a:prstGeom prst="round2SameRect">
            <a:avLst>
              <a:gd name="adj1" fmla="val 3267"/>
              <a:gd name="adj2" fmla="val 0"/>
            </a:avLst>
          </a:prstGeom>
          <a:solidFill>
            <a:srgbClr val="F5F8FA"/>
          </a:solidFill>
          <a:ln w="3810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CDDA30-8F80-C81C-046E-39F19CA176F4}"/>
              </a:ext>
            </a:extLst>
          </p:cNvPr>
          <p:cNvSpPr txBox="1"/>
          <p:nvPr/>
        </p:nvSpPr>
        <p:spPr>
          <a:xfrm>
            <a:off x="662400" y="675414"/>
            <a:ext cx="2516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tailwindlabs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tailwindcss</a:t>
            </a:r>
            <a:r>
              <a:rPr kumimoji="1" lang="en-US" altLang="zh-CN" sz="1200" dirty="0"/>
              <a:t> 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188214-4E0C-1A62-ED1A-DE3337590965}"/>
              </a:ext>
            </a:extLst>
          </p:cNvPr>
          <p:cNvSpPr txBox="1"/>
          <p:nvPr/>
        </p:nvSpPr>
        <p:spPr>
          <a:xfrm>
            <a:off x="6198982" y="670433"/>
            <a:ext cx="3619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tailwindlabs__tailwindcss-10212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773CA-9EC9-EFA6-AE1C-EC1DB1AB5B1E}"/>
              </a:ext>
            </a:extLst>
          </p:cNvPr>
          <p:cNvSpPr txBox="1"/>
          <p:nvPr/>
        </p:nvSpPr>
        <p:spPr>
          <a:xfrm>
            <a:off x="662400" y="932400"/>
            <a:ext cx="207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Created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r>
              <a:rPr kumimoji="1" lang="en-US" altLang="zh-CN" sz="1400" dirty="0"/>
              <a:t>:</a:t>
            </a:r>
            <a:r>
              <a:rPr kumimoji="1" lang="zh-CN" altLang="en-US" sz="1400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2023-04-04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07BF9F-6D0E-589C-48D0-8126CA1236D7}"/>
              </a:ext>
            </a:extLst>
          </p:cNvPr>
          <p:cNvSpPr txBox="1"/>
          <p:nvPr/>
        </p:nvSpPr>
        <p:spPr>
          <a:xfrm>
            <a:off x="3775150" y="681471"/>
            <a:ext cx="1768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 Number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10212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D74234-312B-520D-34CA-C3BE2CBA6367}"/>
              </a:ext>
            </a:extLst>
          </p:cNvPr>
          <p:cNvSpPr txBox="1"/>
          <p:nvPr/>
        </p:nvSpPr>
        <p:spPr>
          <a:xfrm>
            <a:off x="9905780" y="684321"/>
            <a:ext cx="1166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Version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68043B-BB83-BF70-1525-7DAC3A5EB0BF}"/>
              </a:ext>
            </a:extLst>
          </p:cNvPr>
          <p:cNvSpPr txBox="1"/>
          <p:nvPr/>
        </p:nvSpPr>
        <p:spPr>
          <a:xfrm>
            <a:off x="3776400" y="932400"/>
            <a:ext cx="2302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Commit</a:t>
            </a:r>
            <a:r>
              <a:rPr kumimoji="1" lang="en-US" altLang="zh-CN" sz="1400" b="1" dirty="0"/>
              <a:t>:   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d731049</a:t>
            </a:r>
            <a:r>
              <a:rPr kumimoji="1" lang="en" altLang="zh-CN" sz="1200" dirty="0"/>
              <a:t>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51FC72-C837-A277-A247-030FC173E705}"/>
              </a:ext>
            </a:extLst>
          </p:cNvPr>
          <p:cNvSpPr txBox="1"/>
          <p:nvPr/>
        </p:nvSpPr>
        <p:spPr>
          <a:xfrm>
            <a:off x="6198982" y="932400"/>
            <a:ext cx="2306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Numbers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["10180"]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A62A3-44B5-F7E7-6A94-5D17DC00C3A5}"/>
              </a:ext>
            </a:extLst>
          </p:cNvPr>
          <p:cNvSpPr txBox="1"/>
          <p:nvPr/>
        </p:nvSpPr>
        <p:spPr>
          <a:xfrm>
            <a:off x="6198681" y="1202400"/>
            <a:ext cx="3407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Fail2Pass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"tests/default-</a:t>
            </a:r>
            <a:r>
              <a:rPr lang="en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extractor.test.js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7BFE7E-C4D4-0AA6-BD5D-CDA92A6A3987}"/>
              </a:ext>
            </a:extLst>
          </p:cNvPr>
          <p:cNvSpPr txBox="1"/>
          <p:nvPr/>
        </p:nvSpPr>
        <p:spPr>
          <a:xfrm>
            <a:off x="9907200" y="932400"/>
            <a:ext cx="127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Pass2Pass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B051191A-79AF-5717-6876-DB84DD984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688" y="2307492"/>
            <a:ext cx="3410397" cy="183967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AAE6D46-CA3D-1D35-B38E-48EB58B0ECEC}"/>
              </a:ext>
            </a:extLst>
          </p:cNvPr>
          <p:cNvSpPr txBox="1"/>
          <p:nvPr/>
        </p:nvSpPr>
        <p:spPr>
          <a:xfrm>
            <a:off x="666180" y="1858365"/>
            <a:ext cx="5287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content with brackets [] prevents arbitrary class from being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generated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9BE30E-AB34-FD2B-C005-8A10527EEB16}"/>
              </a:ext>
            </a:extLst>
          </p:cNvPr>
          <p:cNvSpPr txBox="1"/>
          <p:nvPr/>
        </p:nvSpPr>
        <p:spPr>
          <a:xfrm>
            <a:off x="674860" y="2022460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i="0" dirty="0">
                <a:effectLst/>
              </a:rPr>
              <a:t>This works: </a:t>
            </a:r>
            <a:r>
              <a:rPr lang="en" altLang="zh-CN" sz="1200" dirty="0"/>
              <a:t> </a:t>
            </a:r>
            <a:r>
              <a:rPr lang="en" altLang="zh-CN" sz="1200" dirty="0">
                <a:solidFill>
                  <a:srgbClr val="1F6CC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https://play.tailwindcss.com/0VLICQ8oUW</a:t>
            </a:r>
            <a:r>
              <a:rPr lang="en" altLang="zh-CN" sz="1200" dirty="0">
                <a:solidFill>
                  <a:srgbClr val="1F6CC4"/>
                </a:solidFill>
              </a:rPr>
              <a:t>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8C498-EB55-99B4-6E62-4F9099562C8E}"/>
              </a:ext>
            </a:extLst>
          </p:cNvPr>
          <p:cNvSpPr txBox="1"/>
          <p:nvPr/>
        </p:nvSpPr>
        <p:spPr>
          <a:xfrm>
            <a:off x="703703" y="4101744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dirty="0"/>
              <a:t>This does not work: </a:t>
            </a:r>
            <a:r>
              <a:rPr lang="en" altLang="zh-CN" sz="1200" i="0" u="none" strike="noStrike" dirty="0">
                <a:solidFill>
                  <a:srgbClr val="F0F6FC"/>
                </a:solidFill>
                <a:effectLst/>
                <a:hlinkClick r:id="rId5"/>
              </a:rPr>
              <a:t>https://play.tailwindcss.com/5KJf7xDKv6</a:t>
            </a:r>
            <a:endParaRPr lang="en" altLang="zh-CN" sz="1200" i="0" dirty="0">
              <a:solidFill>
                <a:srgbClr val="F0F6FC"/>
              </a:solidFill>
              <a:effectLst/>
            </a:endParaRPr>
          </a:p>
        </p:txBody>
      </p:sp>
      <p:pic>
        <p:nvPicPr>
          <p:cNvPr id="3076" name="Picture 4" descr="image">
            <a:extLst>
              <a:ext uri="{FF2B5EF4-FFF2-40B4-BE49-F238E27FC236}">
                <a16:creationId xmlns:a16="http://schemas.microsoft.com/office/drawing/2014/main" id="{0BBD52E1-59DD-AECB-F275-5D55823AF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763" y="4384444"/>
            <a:ext cx="3434207" cy="19613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D363BFAC-2BE1-A315-1115-23D3FD653645}"/>
              </a:ext>
            </a:extLst>
          </p:cNvPr>
          <p:cNvSpPr txBox="1"/>
          <p:nvPr/>
        </p:nvSpPr>
        <p:spPr>
          <a:xfrm>
            <a:off x="662400" y="1202967"/>
            <a:ext cx="2721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Website Links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['http...', 'http…']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EC35E2-0E44-DF84-88AC-29DAD7CC27EB}"/>
              </a:ext>
            </a:extLst>
          </p:cNvPr>
          <p:cNvSpPr txBox="1"/>
          <p:nvPr/>
        </p:nvSpPr>
        <p:spPr>
          <a:xfrm>
            <a:off x="3777712" y="1202400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kumimoji="1" lang="en-US" altLang="zh-CN" sz="1400" b="1" dirty="0" err="1"/>
              <a:t>_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[...]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C1E77622-5758-1194-B140-B3A28491EA77}"/>
              </a:ext>
            </a:extLst>
          </p:cNvPr>
          <p:cNvCxnSpPr/>
          <p:nvPr/>
        </p:nvCxnSpPr>
        <p:spPr>
          <a:xfrm>
            <a:off x="5805687" y="1495052"/>
            <a:ext cx="0" cy="4946331"/>
          </a:xfrm>
          <a:prstGeom prst="line">
            <a:avLst/>
          </a:prstGeom>
          <a:ln w="28575">
            <a:solidFill>
              <a:srgbClr val="D8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A0EA87D-0D4D-72D6-518F-735FC64B3DC9}"/>
              </a:ext>
            </a:extLst>
          </p:cNvPr>
          <p:cNvSpPr txBox="1"/>
          <p:nvPr/>
        </p:nvSpPr>
        <p:spPr>
          <a:xfrm>
            <a:off x="663253" y="1609200"/>
            <a:ext cx="5012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 Descriptions:</a:t>
            </a:r>
          </a:p>
        </p:txBody>
      </p:sp>
      <p:sp>
        <p:nvSpPr>
          <p:cNvPr id="38" name="同侧圆角矩形 37">
            <a:extLst>
              <a:ext uri="{FF2B5EF4-FFF2-40B4-BE49-F238E27FC236}">
                <a16:creationId xmlns:a16="http://schemas.microsoft.com/office/drawing/2014/main" id="{59AE0A91-16D7-B40B-5B3A-F6A95F46A0ED}"/>
              </a:ext>
            </a:extLst>
          </p:cNvPr>
          <p:cNvSpPr/>
          <p:nvPr/>
        </p:nvSpPr>
        <p:spPr>
          <a:xfrm rot="10800000">
            <a:off x="639550" y="1566742"/>
            <a:ext cx="11118522" cy="4874631"/>
          </a:xfrm>
          <a:prstGeom prst="round2SameRect">
            <a:avLst>
              <a:gd name="adj1" fmla="val 3580"/>
              <a:gd name="adj2" fmla="val 0"/>
            </a:avLst>
          </a:prstGeom>
          <a:noFill/>
          <a:ln w="3810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侧圆角矩形 43">
            <a:extLst>
              <a:ext uri="{FF2B5EF4-FFF2-40B4-BE49-F238E27FC236}">
                <a16:creationId xmlns:a16="http://schemas.microsoft.com/office/drawing/2014/main" id="{5928CAD0-C1A1-F28E-FCA1-EB0134892D0A}"/>
              </a:ext>
            </a:extLst>
          </p:cNvPr>
          <p:cNvSpPr/>
          <p:nvPr/>
        </p:nvSpPr>
        <p:spPr>
          <a:xfrm>
            <a:off x="5908887" y="4066010"/>
            <a:ext cx="5698578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7B7C5D-3792-1ED4-15B6-455185A41C4D}"/>
              </a:ext>
            </a:extLst>
          </p:cNvPr>
          <p:cNvSpPr txBox="1"/>
          <p:nvPr/>
        </p:nvSpPr>
        <p:spPr>
          <a:xfrm>
            <a:off x="5928502" y="4043912"/>
            <a:ext cx="4981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 err="1"/>
              <a:t>src</a:t>
            </a:r>
            <a:r>
              <a:rPr lang="en" altLang="zh-CN" sz="1200" dirty="0"/>
              <a:t>/lib/</a:t>
            </a:r>
            <a:r>
              <a:rPr lang="en" altLang="zh-CN" sz="1200" dirty="0" err="1"/>
              <a:t>defaultExtractor.js</a:t>
            </a:r>
            <a:endParaRPr lang="en" altLang="zh-CN" sz="1200" i="0" dirty="0">
              <a:effectLst/>
            </a:endParaRPr>
          </a:p>
        </p:txBody>
      </p:sp>
      <p:sp>
        <p:nvSpPr>
          <p:cNvPr id="46" name="同侧圆角矩形 45">
            <a:extLst>
              <a:ext uri="{FF2B5EF4-FFF2-40B4-BE49-F238E27FC236}">
                <a16:creationId xmlns:a16="http://schemas.microsoft.com/office/drawing/2014/main" id="{B5E05C7E-50F0-55E4-96B1-F1EA83972072}"/>
              </a:ext>
            </a:extLst>
          </p:cNvPr>
          <p:cNvSpPr/>
          <p:nvPr/>
        </p:nvSpPr>
        <p:spPr>
          <a:xfrm rot="10800000">
            <a:off x="5908886" y="4330162"/>
            <a:ext cx="5698578" cy="2039742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010081-4D5E-8E9D-867F-281DFC1765F7}"/>
              </a:ext>
            </a:extLst>
          </p:cNvPr>
          <p:cNvSpPr/>
          <p:nvPr/>
        </p:nvSpPr>
        <p:spPr>
          <a:xfrm>
            <a:off x="5910349" y="4510812"/>
            <a:ext cx="5696984" cy="367802"/>
          </a:xfrm>
          <a:prstGeom prst="rect">
            <a:avLst/>
          </a:prstGeom>
          <a:solidFill>
            <a:srgbClr val="FF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同侧圆角矩形 51">
            <a:extLst>
              <a:ext uri="{FF2B5EF4-FFF2-40B4-BE49-F238E27FC236}">
                <a16:creationId xmlns:a16="http://schemas.microsoft.com/office/drawing/2014/main" id="{58456167-F88A-4EFC-AD61-B942323A8CD3}"/>
              </a:ext>
            </a:extLst>
          </p:cNvPr>
          <p:cNvSpPr/>
          <p:nvPr/>
        </p:nvSpPr>
        <p:spPr>
          <a:xfrm rot="10800000">
            <a:off x="5908826" y="4881582"/>
            <a:ext cx="5698639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C13B4AE-5BA9-0DDC-D4BB-9A23FED68959}"/>
              </a:ext>
            </a:extLst>
          </p:cNvPr>
          <p:cNvSpPr txBox="1"/>
          <p:nvPr/>
        </p:nvSpPr>
        <p:spPr>
          <a:xfrm>
            <a:off x="5908857" y="4282624"/>
            <a:ext cx="60983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ui-monospace"/>
              </a:rPr>
              <a:t>30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  <a:r>
              <a:rPr lang="en" altLang="zh-CN" sz="1200" b="0" i="0" dirty="0">
                <a:solidFill>
                  <a:srgbClr val="D12A34"/>
                </a:solidFill>
                <a:effectLst/>
                <a:latin typeface="ui-monospace"/>
              </a:rPr>
              <a:t>let</a:t>
            </a:r>
            <a:r>
              <a:rPr lang="en" altLang="zh-CN" sz="1200" b="0" i="0" dirty="0">
                <a:effectLst/>
                <a:latin typeface="ui-monospace"/>
              </a:rPr>
              <a:t> </a:t>
            </a:r>
            <a:r>
              <a:rPr lang="en" altLang="zh-CN" sz="1200" b="0" i="0" dirty="0">
                <a:solidFill>
                  <a:srgbClr val="1E2228"/>
                </a:solidFill>
                <a:effectLst/>
                <a:latin typeface="ui-monospace"/>
              </a:rPr>
              <a:t>utility = </a:t>
            </a:r>
            <a:r>
              <a:rPr lang="en" altLang="zh-CN" sz="1200" b="0" i="0" dirty="0" err="1">
                <a:effectLst/>
                <a:latin typeface="ui-monospace"/>
              </a:rPr>
              <a:t>regex.</a:t>
            </a:r>
            <a:r>
              <a:rPr lang="en" altLang="zh-CN" sz="1200" b="0" i="0" dirty="0" err="1">
                <a:solidFill>
                  <a:srgbClr val="835CC6"/>
                </a:solidFill>
                <a:effectLst/>
                <a:latin typeface="ui-monospace"/>
              </a:rPr>
              <a:t>any</a:t>
            </a:r>
            <a:r>
              <a:rPr lang="en" altLang="zh-CN" sz="1200" b="0" i="0" dirty="0">
                <a:effectLst/>
                <a:latin typeface="ui-monospace"/>
              </a:rPr>
              <a:t>([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- 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32  -      </a:t>
            </a:r>
            <a:r>
              <a:rPr lang="en" altLang="zh-CN" sz="1200" b="0" i="0" dirty="0">
                <a:solidFill>
                  <a:srgbClr val="1658B0"/>
                </a:solidFill>
                <a:effectLst/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(without square brackets)</a:t>
            </a:r>
          </a:p>
          <a:p>
            <a:pPr marL="228600" indent="-228600">
              <a:buAutoNum type="arabicPlain" startAt="32"/>
            </a:pP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\[[^\s:'"`]+:[^\s\[\]]+\]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pPr marL="228600" indent="-228600">
              <a:buAutoNum type="arabicPlain" startAt="33"/>
            </a:pPr>
            <a:r>
              <a:rPr lang="en" altLang="zh-CN" sz="1200" dirty="0">
                <a:latin typeface="ui-monospace"/>
              </a:rPr>
              <a:t>+    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34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with balanced square brackets</a:t>
            </a:r>
          </a:p>
          <a:p>
            <a:pPr marL="228600" indent="-228600">
              <a:buAutoNum type="arabicPlain" startAt="35"/>
            </a:pPr>
            <a:r>
              <a:rPr lang="en" altLang="zh-CN" sz="1200" b="0" i="0" dirty="0">
                <a:effectLst/>
                <a:latin typeface="ui-monospace"/>
              </a:rPr>
              <a:t>+</a:t>
            </a:r>
          </a:p>
          <a:p>
            <a:pPr indent="-228600">
              <a:buFontTx/>
              <a:buAutoNum type="arabicPlain" startAt="36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with square brackets to work in arbitrary properties</a:t>
            </a:r>
          </a:p>
          <a:p>
            <a:pPr marL="228600" indent="-228600">
              <a:buFontTx/>
              <a:buAutoNum type="arabicPlain" startAt="37"/>
            </a:pPr>
            <a:r>
              <a:rPr lang="en" altLang="zh-CN" sz="1200" b="0" i="0" dirty="0">
                <a:effectLst/>
                <a:latin typeface="ui-monospace"/>
              </a:rPr>
              <a:t>+     // while fixing a problem with the regex matching too much</a:t>
            </a:r>
          </a:p>
          <a:p>
            <a:pPr marL="228600" indent="-228600">
              <a:buAutoNum type="arabicPlain" startAt="38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\[[^\s:'"`]+:[^\s]+?\[[^\s]+?\][^\s]+?\]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D8EFE5E8-E351-68A8-39EE-8B18A502A344}"/>
              </a:ext>
            </a:extLst>
          </p:cNvPr>
          <p:cNvSpPr/>
          <p:nvPr/>
        </p:nvSpPr>
        <p:spPr>
          <a:xfrm>
            <a:off x="5894523" y="1623688"/>
            <a:ext cx="5712836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12DFE40-36DB-50F5-E817-CD7FC8C97DB0}"/>
              </a:ext>
            </a:extLst>
          </p:cNvPr>
          <p:cNvSpPr txBox="1"/>
          <p:nvPr/>
        </p:nvSpPr>
        <p:spPr>
          <a:xfrm>
            <a:off x="5914138" y="1613084"/>
            <a:ext cx="4647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tests/default-</a:t>
            </a:r>
            <a:r>
              <a:rPr lang="en" altLang="zh-CN" sz="1200" dirty="0" err="1"/>
              <a:t>extractor.test.js</a:t>
            </a:r>
            <a:endParaRPr lang="en" altLang="zh-CN" sz="1200" dirty="0"/>
          </a:p>
        </p:txBody>
      </p:sp>
      <p:sp>
        <p:nvSpPr>
          <p:cNvPr id="60" name="同侧圆角矩形 59">
            <a:extLst>
              <a:ext uri="{FF2B5EF4-FFF2-40B4-BE49-F238E27FC236}">
                <a16:creationId xmlns:a16="http://schemas.microsoft.com/office/drawing/2014/main" id="{28541009-CC4D-BD83-2D76-008221B2295C}"/>
              </a:ext>
            </a:extLst>
          </p:cNvPr>
          <p:cNvSpPr/>
          <p:nvPr/>
        </p:nvSpPr>
        <p:spPr>
          <a:xfrm rot="10800000">
            <a:off x="5894521" y="1892113"/>
            <a:ext cx="5712946" cy="2055228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5E517D-183C-5FA1-7F17-256BC970133A}"/>
              </a:ext>
            </a:extLst>
          </p:cNvPr>
          <p:cNvSpPr/>
          <p:nvPr/>
        </p:nvSpPr>
        <p:spPr>
          <a:xfrm>
            <a:off x="5895985" y="2068489"/>
            <a:ext cx="5711348" cy="36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同侧圆角矩形 61">
            <a:extLst>
              <a:ext uri="{FF2B5EF4-FFF2-40B4-BE49-F238E27FC236}">
                <a16:creationId xmlns:a16="http://schemas.microsoft.com/office/drawing/2014/main" id="{D3B907D5-7FC2-9680-7CF6-F5A907416080}"/>
              </a:ext>
            </a:extLst>
          </p:cNvPr>
          <p:cNvSpPr/>
          <p:nvPr/>
        </p:nvSpPr>
        <p:spPr>
          <a:xfrm rot="10800000">
            <a:off x="5894462" y="2439259"/>
            <a:ext cx="5712915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C0DDBD6-E2E2-E5CA-D4C5-4ABFDAAA5091}"/>
              </a:ext>
            </a:extLst>
          </p:cNvPr>
          <p:cNvSpPr txBox="1"/>
          <p:nvPr/>
        </p:nvSpPr>
        <p:spPr>
          <a:xfrm>
            <a:off x="5894495" y="1840301"/>
            <a:ext cx="58177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effectLst/>
                <a:latin typeface="ui-monospace"/>
              </a:rPr>
              <a:t>488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</a:p>
          <a:p>
            <a:r>
              <a:rPr lang="en-US" altLang="zh-CN" sz="1200" dirty="0">
                <a:latin typeface="ui-monospace"/>
              </a:rPr>
              <a:t>489</a:t>
            </a:r>
            <a:r>
              <a:rPr lang="en" altLang="zh-CN" sz="1200" b="0" i="0" dirty="0">
                <a:effectLst/>
                <a:latin typeface="ui-monospace"/>
              </a:rPr>
              <a:t>  -      </a:t>
            </a:r>
            <a:r>
              <a:rPr lang="en" altLang="zh-CN" sz="1200" b="0" i="0" dirty="0">
                <a:solidFill>
                  <a:srgbClr val="6E43BF"/>
                </a:solidFill>
                <a:effectLst/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(`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text-[#bad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a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55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]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`)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-US" altLang="zh-CN" sz="1200" dirty="0">
                <a:latin typeface="ui-monospace"/>
              </a:rPr>
              <a:t>490</a:t>
            </a:r>
            <a:r>
              <a:rPr lang="en" altLang="zh-CN" sz="1200" b="0" i="0" dirty="0">
                <a:effectLst/>
                <a:latin typeface="ui-monospace"/>
              </a:rPr>
              <a:t>  - 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491</a:t>
            </a:r>
            <a:r>
              <a:rPr lang="en" altLang="zh-CN" sz="1200" b="0" i="0" dirty="0">
                <a:effectLst/>
                <a:latin typeface="ui-monospace"/>
              </a:rPr>
              <a:t>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492</a:t>
            </a:r>
            <a:r>
              <a:rPr lang="zh-CN" altLang="en-US" sz="1200" b="0" i="0" dirty="0">
                <a:effectLst/>
                <a:latin typeface="ui-monospace"/>
              </a:rPr>
              <a:t>  </a:t>
            </a:r>
            <a:r>
              <a:rPr lang="en" altLang="zh-CN" sz="1200" b="0" i="0" dirty="0">
                <a:effectLst/>
                <a:latin typeface="ui-monospace"/>
              </a:rPr>
              <a:t>+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test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solidFill>
                  <a:srgbClr val="083067"/>
                </a:solidFill>
                <a:effectLst/>
                <a:latin typeface="ui-monospace"/>
              </a:rPr>
              <a:t>'arbitrary properties followed by square bracketed stuff'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 () </a:t>
            </a:r>
            <a:r>
              <a:rPr lang="en" altLang="zh-CN" sz="1200" b="0" i="0" dirty="0">
                <a:solidFill>
                  <a:srgbClr val="89B4CF"/>
                </a:solidFill>
                <a:effectLst/>
                <a:latin typeface="ui-monospace"/>
              </a:rPr>
              <a:t>=&gt;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{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r>
              <a:rPr lang="en-US" altLang="zh-CN" sz="1200" dirty="0">
                <a:latin typeface="ui-monospace"/>
              </a:rPr>
              <a:t>493  </a:t>
            </a:r>
            <a:r>
              <a:rPr lang="en" altLang="zh-CN" sz="1200" dirty="0">
                <a:latin typeface="ui-monospace"/>
              </a:rPr>
              <a:t>+     </a:t>
            </a:r>
            <a:r>
              <a:rPr lang="zh-CN" altLang="en-US" sz="1200" dirty="0">
                <a:latin typeface="ui-monospace"/>
              </a:rPr>
              <a:t> </a:t>
            </a:r>
            <a:r>
              <a:rPr lang="en" altLang="zh-CN" sz="1200" dirty="0">
                <a:solidFill>
                  <a:srgbClr val="D12A34"/>
                </a:solidFill>
                <a:latin typeface="ui-monospace"/>
              </a:rPr>
              <a:t>let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extractions </a:t>
            </a:r>
            <a:r>
              <a:rPr lang="en" altLang="zh-CN" sz="1200" b="0" i="0" dirty="0">
                <a:effectLst/>
                <a:latin typeface="ui-monospace"/>
              </a:rPr>
              <a:t>=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" altLang="zh-CN" sz="1200" b="0" i="0" dirty="0" err="1">
                <a:solidFill>
                  <a:srgbClr val="1F2328"/>
                </a:solidFill>
                <a:effectLst/>
                <a:latin typeface="ui-monospace"/>
              </a:rPr>
              <a:t>defaultExtractor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endParaRPr lang="en" altLang="zh-CN" sz="1200" dirty="0">
              <a:latin typeface="ui-monospace"/>
            </a:endParaRPr>
          </a:p>
          <a:p>
            <a:r>
              <a:rPr lang="en-US" altLang="zh-CN" sz="1200" dirty="0">
                <a:latin typeface="ui-monospace"/>
              </a:rPr>
              <a:t>494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zh-CN" altLang="en-US" sz="1200" b="0" i="0" dirty="0">
                <a:solidFill>
                  <a:srgbClr val="58636E"/>
                </a:solidFill>
                <a:effectLst/>
                <a:latin typeface="ui-monospace"/>
              </a:rPr>
              <a:t>    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'&lt;div class="h-16 items-end border border-white 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]"&gt;[foo]&lt;/div&gt;</a:t>
            </a:r>
            <a:r>
              <a:rPr lang="en" altLang="zh-CN" sz="1200" b="0" i="0" dirty="0">
                <a:solidFill>
                  <a:srgbClr val="0A3069"/>
                </a:solidFill>
                <a:effectLst/>
                <a:latin typeface="ui-monospace"/>
              </a:rPr>
              <a:t>‘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b="0" i="0" dirty="0">
                <a:effectLst/>
                <a:latin typeface="ui-monospace"/>
              </a:rPr>
              <a:t>495  +</a:t>
            </a:r>
            <a:r>
              <a:rPr lang="zh-CN" altLang="en-US" sz="1200" b="0" i="0" dirty="0">
                <a:effectLst/>
                <a:latin typeface="ui-monospace"/>
              </a:rPr>
              <a:t>     </a:t>
            </a:r>
            <a:r>
              <a:rPr lang="en-US" altLang="zh-CN" sz="1200" b="0" i="0" dirty="0">
                <a:effectLst/>
                <a:latin typeface="ui-monospace"/>
              </a:rPr>
              <a:t> </a:t>
            </a:r>
            <a:r>
              <a:rPr lang="en-US" altLang="zh-CN" sz="1200" dirty="0">
                <a:latin typeface="ui-monospace"/>
              </a:rPr>
              <a:t>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496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497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effectLst/>
                <a:latin typeface="ui-monospace"/>
              </a:rPr>
              <a:t>`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]`)</a:t>
            </a:r>
          </a:p>
          <a:p>
            <a:r>
              <a:rPr lang="en" altLang="zh-CN" sz="1200" dirty="0">
                <a:latin typeface="ui-monospace"/>
              </a:rPr>
              <a:t>498  +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</p:txBody>
      </p:sp>
      <p:cxnSp>
        <p:nvCxnSpPr>
          <p:cNvPr id="3091" name="肘形连接符 3090">
            <a:extLst>
              <a:ext uri="{FF2B5EF4-FFF2-40B4-BE49-F238E27FC236}">
                <a16:creationId xmlns:a16="http://schemas.microsoft.com/office/drawing/2014/main" id="{49FBFC89-3897-D222-9F9A-B07D2CD89399}"/>
              </a:ext>
            </a:extLst>
          </p:cNvPr>
          <p:cNvCxnSpPr>
            <a:stCxn id="29" idx="1"/>
            <a:endCxn id="24" idx="1"/>
          </p:cNvCxnSpPr>
          <p:nvPr/>
        </p:nvCxnSpPr>
        <p:spPr>
          <a:xfrm rot="10800000" flipH="1" flipV="1">
            <a:off x="662400" y="1356856"/>
            <a:ext cx="12460" cy="804104"/>
          </a:xfrm>
          <a:prstGeom prst="bentConnector3">
            <a:avLst>
              <a:gd name="adj1" fmla="val -18470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肘形连接符 3091">
            <a:extLst>
              <a:ext uri="{FF2B5EF4-FFF2-40B4-BE49-F238E27FC236}">
                <a16:creationId xmlns:a16="http://schemas.microsoft.com/office/drawing/2014/main" id="{C086ECB3-426E-39B9-74A0-3B9865A0B574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-475480" y="3061061"/>
            <a:ext cx="2088590" cy="2697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0" name="肘形连接符 3099">
            <a:extLst>
              <a:ext uri="{FF2B5EF4-FFF2-40B4-BE49-F238E27FC236}">
                <a16:creationId xmlns:a16="http://schemas.microsoft.com/office/drawing/2014/main" id="{BACA6DBB-FA71-D45B-774C-EE10F241BE9A}"/>
              </a:ext>
            </a:extLst>
          </p:cNvPr>
          <p:cNvCxnSpPr>
            <a:cxnSpLocks/>
            <a:stCxn id="30" idx="3"/>
            <a:endCxn id="3074" idx="3"/>
          </p:cNvCxnSpPr>
          <p:nvPr/>
        </p:nvCxnSpPr>
        <p:spPr>
          <a:xfrm flipH="1">
            <a:off x="4866085" y="1356289"/>
            <a:ext cx="498921" cy="1871040"/>
          </a:xfrm>
          <a:prstGeom prst="bentConnector3">
            <a:avLst>
              <a:gd name="adj1" fmla="val -7253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肘形连接符 3102">
            <a:extLst>
              <a:ext uri="{FF2B5EF4-FFF2-40B4-BE49-F238E27FC236}">
                <a16:creationId xmlns:a16="http://schemas.microsoft.com/office/drawing/2014/main" id="{99A060A0-F10C-1570-F9D5-FADF62E87CC5}"/>
              </a:ext>
            </a:extLst>
          </p:cNvPr>
          <p:cNvCxnSpPr>
            <a:cxnSpLocks/>
          </p:cNvCxnSpPr>
          <p:nvPr/>
        </p:nvCxnSpPr>
        <p:spPr>
          <a:xfrm rot="5400000">
            <a:off x="4221517" y="3862266"/>
            <a:ext cx="2137814" cy="867941"/>
          </a:xfrm>
          <a:prstGeom prst="bentConnector3">
            <a:avLst>
              <a:gd name="adj1" fmla="val 9985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8" name="文本框 3107">
            <a:extLst>
              <a:ext uri="{FF2B5EF4-FFF2-40B4-BE49-F238E27FC236}">
                <a16:creationId xmlns:a16="http://schemas.microsoft.com/office/drawing/2014/main" id="{F8D2FCAB-A61B-9D09-FA2F-2A92F761E43C}"/>
              </a:ext>
            </a:extLst>
          </p:cNvPr>
          <p:cNvSpPr txBox="1"/>
          <p:nvPr/>
        </p:nvSpPr>
        <p:spPr>
          <a:xfrm>
            <a:off x="10506869" y="1609189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 Patch</a:t>
            </a:r>
          </a:p>
        </p:txBody>
      </p:sp>
      <p:sp>
        <p:nvSpPr>
          <p:cNvPr id="3109" name="文本框 3108">
            <a:extLst>
              <a:ext uri="{FF2B5EF4-FFF2-40B4-BE49-F238E27FC236}">
                <a16:creationId xmlns:a16="http://schemas.microsoft.com/office/drawing/2014/main" id="{10B53718-DC03-D669-8FF9-FAE81958F243}"/>
              </a:ext>
            </a:extLst>
          </p:cNvPr>
          <p:cNvSpPr txBox="1"/>
          <p:nvPr/>
        </p:nvSpPr>
        <p:spPr>
          <a:xfrm>
            <a:off x="10788147" y="4037857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</a:p>
        </p:txBody>
      </p:sp>
    </p:spTree>
    <p:extLst>
      <p:ext uri="{BB962C8B-B14F-4D97-AF65-F5344CB8AC3E}">
        <p14:creationId xmlns:p14="http://schemas.microsoft.com/office/powerpoint/2010/main" val="402146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A198-D296-6B43-E2A4-8F5A399F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同侧圆角矩形 34">
            <a:extLst>
              <a:ext uri="{FF2B5EF4-FFF2-40B4-BE49-F238E27FC236}">
                <a16:creationId xmlns:a16="http://schemas.microsoft.com/office/drawing/2014/main" id="{3168982B-395F-BF7A-3B02-5F2B5FC6D323}"/>
              </a:ext>
            </a:extLst>
          </p:cNvPr>
          <p:cNvSpPr/>
          <p:nvPr/>
        </p:nvSpPr>
        <p:spPr>
          <a:xfrm>
            <a:off x="639588" y="242497"/>
            <a:ext cx="11118521" cy="911609"/>
          </a:xfrm>
          <a:prstGeom prst="round2SameRect">
            <a:avLst>
              <a:gd name="adj1" fmla="val 3267"/>
              <a:gd name="adj2" fmla="val 0"/>
            </a:avLst>
          </a:prstGeom>
          <a:solidFill>
            <a:srgbClr val="F5F8FA"/>
          </a:solidFill>
          <a:ln w="3810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CDDA30-8F80-C81C-046E-39F19CA176F4}"/>
              </a:ext>
            </a:extLst>
          </p:cNvPr>
          <p:cNvSpPr txBox="1"/>
          <p:nvPr/>
        </p:nvSpPr>
        <p:spPr>
          <a:xfrm>
            <a:off x="662400" y="270464"/>
            <a:ext cx="2516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tailwindlabs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tailwindcss</a:t>
            </a:r>
            <a:r>
              <a:rPr kumimoji="1" lang="en-US" altLang="zh-CN" sz="1200" dirty="0"/>
              <a:t> 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188214-4E0C-1A62-ED1A-DE3337590965}"/>
              </a:ext>
            </a:extLst>
          </p:cNvPr>
          <p:cNvSpPr txBox="1"/>
          <p:nvPr/>
        </p:nvSpPr>
        <p:spPr>
          <a:xfrm>
            <a:off x="6198982" y="265483"/>
            <a:ext cx="3619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tailwindlabs__tailwindcss-10212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773CA-9EC9-EFA6-AE1C-EC1DB1AB5B1E}"/>
              </a:ext>
            </a:extLst>
          </p:cNvPr>
          <p:cNvSpPr txBox="1"/>
          <p:nvPr/>
        </p:nvSpPr>
        <p:spPr>
          <a:xfrm>
            <a:off x="662400" y="527450"/>
            <a:ext cx="207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Created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r>
              <a:rPr kumimoji="1" lang="en-US" altLang="zh-CN" sz="1400" dirty="0"/>
              <a:t>:</a:t>
            </a:r>
            <a:r>
              <a:rPr kumimoji="1" lang="zh-CN" altLang="en-US" sz="1400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2023-04-04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07BF9F-6D0E-589C-48D0-8126CA1236D7}"/>
              </a:ext>
            </a:extLst>
          </p:cNvPr>
          <p:cNvSpPr txBox="1"/>
          <p:nvPr/>
        </p:nvSpPr>
        <p:spPr>
          <a:xfrm>
            <a:off x="3775150" y="276521"/>
            <a:ext cx="1768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 Number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10212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D74234-312B-520D-34CA-C3BE2CBA6367}"/>
              </a:ext>
            </a:extLst>
          </p:cNvPr>
          <p:cNvSpPr txBox="1"/>
          <p:nvPr/>
        </p:nvSpPr>
        <p:spPr>
          <a:xfrm>
            <a:off x="9905780" y="279371"/>
            <a:ext cx="1166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Version</a:t>
            </a:r>
            <a:r>
              <a:rPr kumimoji="1" lang="en-US" altLang="zh-CN" sz="1400" b="1" dirty="0"/>
              <a:t>:</a:t>
            </a:r>
            <a:r>
              <a:rPr kumimoji="1" lang="zh-CN" altLang="en-US" sz="1400" b="1" dirty="0"/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68043B-BB83-BF70-1525-7DAC3A5EB0BF}"/>
              </a:ext>
            </a:extLst>
          </p:cNvPr>
          <p:cNvSpPr txBox="1"/>
          <p:nvPr/>
        </p:nvSpPr>
        <p:spPr>
          <a:xfrm>
            <a:off x="3776400" y="527450"/>
            <a:ext cx="2302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Commit</a:t>
            </a:r>
            <a:r>
              <a:rPr kumimoji="1" lang="en-US" altLang="zh-CN" sz="1400" b="1" dirty="0"/>
              <a:t>:   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d731049</a:t>
            </a:r>
            <a:r>
              <a:rPr kumimoji="1" lang="en" altLang="zh-CN" sz="1200" dirty="0"/>
              <a:t>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51FC72-C837-A277-A247-030FC173E705}"/>
              </a:ext>
            </a:extLst>
          </p:cNvPr>
          <p:cNvSpPr txBox="1"/>
          <p:nvPr/>
        </p:nvSpPr>
        <p:spPr>
          <a:xfrm>
            <a:off x="6198982" y="527450"/>
            <a:ext cx="2306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kumimoji="1" lang="en-US" altLang="zh-CN" sz="1400" b="1" dirty="0"/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Numbers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["10180"]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A62A3-44B5-F7E7-6A94-5D17DC00C3A5}"/>
              </a:ext>
            </a:extLst>
          </p:cNvPr>
          <p:cNvSpPr txBox="1"/>
          <p:nvPr/>
        </p:nvSpPr>
        <p:spPr>
          <a:xfrm>
            <a:off x="6198681" y="797450"/>
            <a:ext cx="3407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Fail2Pass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"tests/default-</a:t>
            </a:r>
            <a:r>
              <a:rPr lang="en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extractor.test.js</a:t>
            </a:r>
            <a:r>
              <a:rPr lang="e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7BFE7E-C4D4-0AA6-BD5D-CDA92A6A3987}"/>
              </a:ext>
            </a:extLst>
          </p:cNvPr>
          <p:cNvSpPr txBox="1"/>
          <p:nvPr/>
        </p:nvSpPr>
        <p:spPr>
          <a:xfrm>
            <a:off x="9907200" y="527450"/>
            <a:ext cx="127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Pass2Pass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AE6D46-CA3D-1D35-B38E-48EB58B0ECEC}"/>
              </a:ext>
            </a:extLst>
          </p:cNvPr>
          <p:cNvSpPr txBox="1"/>
          <p:nvPr/>
        </p:nvSpPr>
        <p:spPr>
          <a:xfrm>
            <a:off x="666180" y="1440889"/>
            <a:ext cx="5287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content with brackets [] prevents arbitrary class from being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generated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9BE30E-AB34-FD2B-C005-8A10527EEB16}"/>
              </a:ext>
            </a:extLst>
          </p:cNvPr>
          <p:cNvSpPr txBox="1"/>
          <p:nvPr/>
        </p:nvSpPr>
        <p:spPr>
          <a:xfrm>
            <a:off x="674860" y="1604984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i="0" dirty="0">
                <a:effectLst/>
              </a:rPr>
              <a:t>This works: </a:t>
            </a:r>
            <a:r>
              <a:rPr lang="en" altLang="zh-CN" sz="1200" dirty="0"/>
              <a:t> </a:t>
            </a:r>
            <a:r>
              <a:rPr lang="en" altLang="zh-CN" sz="1200" dirty="0">
                <a:solidFill>
                  <a:srgbClr val="1F6CC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https://play.tailwindcss.com/0VLICQ8oUW</a:t>
            </a:r>
            <a:r>
              <a:rPr lang="en" altLang="zh-CN" sz="1200" dirty="0">
                <a:solidFill>
                  <a:srgbClr val="1F6CC4"/>
                </a:solidFill>
              </a:rPr>
              <a:t>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8C498-EB55-99B4-6E62-4F9099562C8E}"/>
              </a:ext>
            </a:extLst>
          </p:cNvPr>
          <p:cNvSpPr txBox="1"/>
          <p:nvPr/>
        </p:nvSpPr>
        <p:spPr>
          <a:xfrm>
            <a:off x="703703" y="3962086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dirty="0"/>
              <a:t>This does not work: </a:t>
            </a:r>
            <a:r>
              <a:rPr lang="en" altLang="zh-CN" sz="1200" i="0" u="none" strike="noStrike" dirty="0">
                <a:solidFill>
                  <a:srgbClr val="F0F6FC"/>
                </a:solidFill>
                <a:effectLst/>
                <a:hlinkClick r:id="rId4"/>
              </a:rPr>
              <a:t>https://play.tailwindcss.com/5KJf7xDKv6</a:t>
            </a:r>
            <a:endParaRPr lang="en" altLang="zh-CN" sz="1200" i="0" dirty="0">
              <a:solidFill>
                <a:srgbClr val="F0F6FC"/>
              </a:solidFill>
              <a:effectLst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63BFAC-2BE1-A315-1115-23D3FD653645}"/>
              </a:ext>
            </a:extLst>
          </p:cNvPr>
          <p:cNvSpPr txBox="1"/>
          <p:nvPr/>
        </p:nvSpPr>
        <p:spPr>
          <a:xfrm>
            <a:off x="662400" y="798017"/>
            <a:ext cx="2721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Website Links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['http...', 'http…']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EC35E2-0E44-DF84-88AC-29DAD7CC27EB}"/>
              </a:ext>
            </a:extLst>
          </p:cNvPr>
          <p:cNvSpPr txBox="1"/>
          <p:nvPr/>
        </p:nvSpPr>
        <p:spPr>
          <a:xfrm>
            <a:off x="3777712" y="797450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kumimoji="1" lang="en-US" altLang="zh-CN" sz="1400" b="1" dirty="0" err="1"/>
              <a:t>_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kumimoji="1" lang="en-US" altLang="zh-CN" sz="1400" b="1" dirty="0"/>
              <a:t>: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[...]</a:t>
            </a:r>
            <a:endParaRPr lang="en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C1E77622-5758-1194-B140-B3A28491EA77}"/>
              </a:ext>
            </a:extLst>
          </p:cNvPr>
          <p:cNvCxnSpPr>
            <a:cxnSpLocks/>
          </p:cNvCxnSpPr>
          <p:nvPr/>
        </p:nvCxnSpPr>
        <p:spPr>
          <a:xfrm>
            <a:off x="5805687" y="1090102"/>
            <a:ext cx="0" cy="5434633"/>
          </a:xfrm>
          <a:prstGeom prst="line">
            <a:avLst/>
          </a:prstGeom>
          <a:ln w="28575">
            <a:solidFill>
              <a:srgbClr val="D8E0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A0EA87D-0D4D-72D6-518F-735FC64B3DC9}"/>
              </a:ext>
            </a:extLst>
          </p:cNvPr>
          <p:cNvSpPr txBox="1"/>
          <p:nvPr/>
        </p:nvSpPr>
        <p:spPr>
          <a:xfrm>
            <a:off x="663253" y="1204250"/>
            <a:ext cx="5012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 Descriptions:</a:t>
            </a:r>
          </a:p>
        </p:txBody>
      </p:sp>
      <p:sp>
        <p:nvSpPr>
          <p:cNvPr id="38" name="同侧圆角矩形 37">
            <a:extLst>
              <a:ext uri="{FF2B5EF4-FFF2-40B4-BE49-F238E27FC236}">
                <a16:creationId xmlns:a16="http://schemas.microsoft.com/office/drawing/2014/main" id="{59AE0A91-16D7-B40B-5B3A-F6A95F46A0ED}"/>
              </a:ext>
            </a:extLst>
          </p:cNvPr>
          <p:cNvSpPr/>
          <p:nvPr/>
        </p:nvSpPr>
        <p:spPr>
          <a:xfrm rot="10800000">
            <a:off x="639550" y="1161789"/>
            <a:ext cx="11118522" cy="5362946"/>
          </a:xfrm>
          <a:prstGeom prst="round2SameRect">
            <a:avLst>
              <a:gd name="adj1" fmla="val 3580"/>
              <a:gd name="adj2" fmla="val 0"/>
            </a:avLst>
          </a:prstGeom>
          <a:noFill/>
          <a:ln w="3810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侧圆角矩形 43">
            <a:extLst>
              <a:ext uri="{FF2B5EF4-FFF2-40B4-BE49-F238E27FC236}">
                <a16:creationId xmlns:a16="http://schemas.microsoft.com/office/drawing/2014/main" id="{5928CAD0-C1A1-F28E-FCA1-EB0134892D0A}"/>
              </a:ext>
            </a:extLst>
          </p:cNvPr>
          <p:cNvSpPr/>
          <p:nvPr/>
        </p:nvSpPr>
        <p:spPr>
          <a:xfrm>
            <a:off x="5908887" y="3971305"/>
            <a:ext cx="5698578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7B7C5D-3792-1ED4-15B6-455185A41C4D}"/>
              </a:ext>
            </a:extLst>
          </p:cNvPr>
          <p:cNvSpPr txBox="1"/>
          <p:nvPr/>
        </p:nvSpPr>
        <p:spPr>
          <a:xfrm>
            <a:off x="5928502" y="3949207"/>
            <a:ext cx="4981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 err="1"/>
              <a:t>src</a:t>
            </a:r>
            <a:r>
              <a:rPr lang="en" altLang="zh-CN" sz="1200" dirty="0"/>
              <a:t>/lib/</a:t>
            </a:r>
            <a:r>
              <a:rPr lang="en" altLang="zh-CN" sz="1200" dirty="0" err="1"/>
              <a:t>defaultExtractor.js</a:t>
            </a:r>
            <a:endParaRPr lang="en" altLang="zh-CN" sz="1200" i="0" dirty="0">
              <a:effectLst/>
            </a:endParaRPr>
          </a:p>
        </p:txBody>
      </p:sp>
      <p:sp>
        <p:nvSpPr>
          <p:cNvPr id="46" name="同侧圆角矩形 45">
            <a:extLst>
              <a:ext uri="{FF2B5EF4-FFF2-40B4-BE49-F238E27FC236}">
                <a16:creationId xmlns:a16="http://schemas.microsoft.com/office/drawing/2014/main" id="{B5E05C7E-50F0-55E4-96B1-F1EA83972072}"/>
              </a:ext>
            </a:extLst>
          </p:cNvPr>
          <p:cNvSpPr/>
          <p:nvPr/>
        </p:nvSpPr>
        <p:spPr>
          <a:xfrm rot="10800000">
            <a:off x="5908886" y="4235457"/>
            <a:ext cx="5698578" cy="2039742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010081-4D5E-8E9D-867F-281DFC1765F7}"/>
              </a:ext>
            </a:extLst>
          </p:cNvPr>
          <p:cNvSpPr/>
          <p:nvPr/>
        </p:nvSpPr>
        <p:spPr>
          <a:xfrm>
            <a:off x="5910349" y="4416107"/>
            <a:ext cx="5696984" cy="367802"/>
          </a:xfrm>
          <a:prstGeom prst="rect">
            <a:avLst/>
          </a:prstGeom>
          <a:solidFill>
            <a:srgbClr val="FF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同侧圆角矩形 51">
            <a:extLst>
              <a:ext uri="{FF2B5EF4-FFF2-40B4-BE49-F238E27FC236}">
                <a16:creationId xmlns:a16="http://schemas.microsoft.com/office/drawing/2014/main" id="{58456167-F88A-4EFC-AD61-B942323A8CD3}"/>
              </a:ext>
            </a:extLst>
          </p:cNvPr>
          <p:cNvSpPr/>
          <p:nvPr/>
        </p:nvSpPr>
        <p:spPr>
          <a:xfrm rot="10800000">
            <a:off x="5908826" y="4786877"/>
            <a:ext cx="5698639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C13B4AE-5BA9-0DDC-D4BB-9A23FED68959}"/>
              </a:ext>
            </a:extLst>
          </p:cNvPr>
          <p:cNvSpPr txBox="1"/>
          <p:nvPr/>
        </p:nvSpPr>
        <p:spPr>
          <a:xfrm>
            <a:off x="5908857" y="4187919"/>
            <a:ext cx="60983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ui-monospace"/>
              </a:rPr>
              <a:t>30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  <a:r>
              <a:rPr lang="en" altLang="zh-CN" sz="1200" b="0" i="0" dirty="0">
                <a:solidFill>
                  <a:srgbClr val="D12A34"/>
                </a:solidFill>
                <a:effectLst/>
                <a:latin typeface="ui-monospace"/>
              </a:rPr>
              <a:t>let</a:t>
            </a:r>
            <a:r>
              <a:rPr lang="en" altLang="zh-CN" sz="1200" b="0" i="0" dirty="0">
                <a:effectLst/>
                <a:latin typeface="ui-monospace"/>
              </a:rPr>
              <a:t> </a:t>
            </a:r>
            <a:r>
              <a:rPr lang="en" altLang="zh-CN" sz="1200" b="0" i="0" dirty="0">
                <a:solidFill>
                  <a:srgbClr val="1E2228"/>
                </a:solidFill>
                <a:effectLst/>
                <a:latin typeface="ui-monospace"/>
              </a:rPr>
              <a:t>utility = </a:t>
            </a:r>
            <a:r>
              <a:rPr lang="en" altLang="zh-CN" sz="1200" b="0" i="0" dirty="0" err="1">
                <a:effectLst/>
                <a:latin typeface="ui-monospace"/>
              </a:rPr>
              <a:t>regex.</a:t>
            </a:r>
            <a:r>
              <a:rPr lang="en" altLang="zh-CN" sz="1200" b="0" i="0" dirty="0" err="1">
                <a:solidFill>
                  <a:srgbClr val="835CC6"/>
                </a:solidFill>
                <a:effectLst/>
                <a:latin typeface="ui-monospace"/>
              </a:rPr>
              <a:t>any</a:t>
            </a:r>
            <a:r>
              <a:rPr lang="en" altLang="zh-CN" sz="1200" b="0" i="0" dirty="0">
                <a:effectLst/>
                <a:latin typeface="ui-monospace"/>
              </a:rPr>
              <a:t>([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- 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32  -      </a:t>
            </a:r>
            <a:r>
              <a:rPr lang="en" altLang="zh-CN" sz="1200" b="0" i="0" dirty="0">
                <a:solidFill>
                  <a:srgbClr val="1658B0"/>
                </a:solidFill>
                <a:effectLst/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(without square brackets)</a:t>
            </a:r>
          </a:p>
          <a:p>
            <a:pPr marL="228600" indent="-228600">
              <a:buAutoNum type="arabicPlain" startAt="32"/>
            </a:pP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\[[^\s:'"`]+:[^\s\[\]]+\]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pPr marL="228600" indent="-228600">
              <a:buAutoNum type="arabicPlain" startAt="33"/>
            </a:pPr>
            <a:r>
              <a:rPr lang="en" altLang="zh-CN" sz="1200" dirty="0">
                <a:latin typeface="ui-monospace"/>
              </a:rPr>
              <a:t>+    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34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with balanced square brackets</a:t>
            </a:r>
          </a:p>
          <a:p>
            <a:pPr marL="228600" indent="-228600">
              <a:buAutoNum type="arabicPlain" startAt="35"/>
            </a:pPr>
            <a:r>
              <a:rPr lang="en" altLang="zh-CN" sz="1200" b="0" i="0" dirty="0">
                <a:effectLst/>
                <a:latin typeface="ui-monospace"/>
              </a:rPr>
              <a:t>+</a:t>
            </a:r>
          </a:p>
          <a:p>
            <a:pPr indent="-228600">
              <a:buFontTx/>
              <a:buAutoNum type="arabicPlain" startAt="36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with square brackets to work in arbitrary properties</a:t>
            </a:r>
          </a:p>
          <a:p>
            <a:pPr marL="228600" indent="-228600">
              <a:buFontTx/>
              <a:buAutoNum type="arabicPlain" startAt="37"/>
            </a:pPr>
            <a:r>
              <a:rPr lang="en" altLang="zh-CN" sz="1200" b="0" i="0" dirty="0">
                <a:effectLst/>
                <a:latin typeface="ui-monospace"/>
              </a:rPr>
              <a:t>+     // while fixing a problem with the regex matching too much</a:t>
            </a:r>
          </a:p>
          <a:p>
            <a:pPr marL="228600" indent="-228600">
              <a:buAutoNum type="arabicPlain" startAt="38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\[[^\s:'"`]+:[^\s]+?\[[^\s]+?\][^\s]+?\]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D8EFE5E8-E351-68A8-39EE-8B18A502A344}"/>
              </a:ext>
            </a:extLst>
          </p:cNvPr>
          <p:cNvSpPr/>
          <p:nvPr/>
        </p:nvSpPr>
        <p:spPr>
          <a:xfrm>
            <a:off x="5894523" y="1333038"/>
            <a:ext cx="5712836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12DFE40-36DB-50F5-E817-CD7FC8C97DB0}"/>
              </a:ext>
            </a:extLst>
          </p:cNvPr>
          <p:cNvSpPr txBox="1"/>
          <p:nvPr/>
        </p:nvSpPr>
        <p:spPr>
          <a:xfrm>
            <a:off x="5914138" y="1322434"/>
            <a:ext cx="4647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tests/default-</a:t>
            </a:r>
            <a:r>
              <a:rPr lang="en" altLang="zh-CN" sz="1200" dirty="0" err="1"/>
              <a:t>extractor.test.js</a:t>
            </a:r>
            <a:endParaRPr lang="en" altLang="zh-CN" sz="1200" dirty="0"/>
          </a:p>
        </p:txBody>
      </p:sp>
      <p:sp>
        <p:nvSpPr>
          <p:cNvPr id="60" name="同侧圆角矩形 59">
            <a:extLst>
              <a:ext uri="{FF2B5EF4-FFF2-40B4-BE49-F238E27FC236}">
                <a16:creationId xmlns:a16="http://schemas.microsoft.com/office/drawing/2014/main" id="{28541009-CC4D-BD83-2D76-008221B2295C}"/>
              </a:ext>
            </a:extLst>
          </p:cNvPr>
          <p:cNvSpPr/>
          <p:nvPr/>
        </p:nvSpPr>
        <p:spPr>
          <a:xfrm rot="10800000">
            <a:off x="5894521" y="1601463"/>
            <a:ext cx="5712946" cy="2055228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5E517D-183C-5FA1-7F17-256BC970133A}"/>
              </a:ext>
            </a:extLst>
          </p:cNvPr>
          <p:cNvSpPr/>
          <p:nvPr/>
        </p:nvSpPr>
        <p:spPr>
          <a:xfrm>
            <a:off x="5895985" y="1777839"/>
            <a:ext cx="5711348" cy="36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同侧圆角矩形 61">
            <a:extLst>
              <a:ext uri="{FF2B5EF4-FFF2-40B4-BE49-F238E27FC236}">
                <a16:creationId xmlns:a16="http://schemas.microsoft.com/office/drawing/2014/main" id="{D3B907D5-7FC2-9680-7CF6-F5A907416080}"/>
              </a:ext>
            </a:extLst>
          </p:cNvPr>
          <p:cNvSpPr/>
          <p:nvPr/>
        </p:nvSpPr>
        <p:spPr>
          <a:xfrm rot="10800000">
            <a:off x="5894462" y="2148609"/>
            <a:ext cx="5712915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C0DDBD6-E2E2-E5CA-D4C5-4ABFDAAA5091}"/>
              </a:ext>
            </a:extLst>
          </p:cNvPr>
          <p:cNvSpPr txBox="1"/>
          <p:nvPr/>
        </p:nvSpPr>
        <p:spPr>
          <a:xfrm>
            <a:off x="5894495" y="1549651"/>
            <a:ext cx="58177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effectLst/>
                <a:latin typeface="ui-monospace"/>
              </a:rPr>
              <a:t>488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</a:p>
          <a:p>
            <a:r>
              <a:rPr lang="en-US" altLang="zh-CN" sz="1200" dirty="0">
                <a:latin typeface="ui-monospace"/>
              </a:rPr>
              <a:t>489</a:t>
            </a:r>
            <a:r>
              <a:rPr lang="en" altLang="zh-CN" sz="1200" b="0" i="0" dirty="0">
                <a:effectLst/>
                <a:latin typeface="ui-monospace"/>
              </a:rPr>
              <a:t>  -      </a:t>
            </a:r>
            <a:r>
              <a:rPr lang="en" altLang="zh-CN" sz="1200" b="0" i="0" dirty="0">
                <a:solidFill>
                  <a:srgbClr val="6E43BF"/>
                </a:solidFill>
                <a:effectLst/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(`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text-[#bad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a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55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]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`)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-US" altLang="zh-CN" sz="1200" dirty="0">
                <a:latin typeface="ui-monospace"/>
              </a:rPr>
              <a:t>490</a:t>
            </a:r>
            <a:r>
              <a:rPr lang="en" altLang="zh-CN" sz="1200" b="0" i="0" dirty="0">
                <a:effectLst/>
                <a:latin typeface="ui-monospace"/>
              </a:rPr>
              <a:t>  - 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491</a:t>
            </a:r>
            <a:r>
              <a:rPr lang="en" altLang="zh-CN" sz="1200" b="0" i="0" dirty="0">
                <a:effectLst/>
                <a:latin typeface="ui-monospace"/>
              </a:rPr>
              <a:t>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492</a:t>
            </a:r>
            <a:r>
              <a:rPr lang="zh-CN" altLang="en-US" sz="1200" b="0" i="0" dirty="0">
                <a:effectLst/>
                <a:latin typeface="ui-monospace"/>
              </a:rPr>
              <a:t>  </a:t>
            </a:r>
            <a:r>
              <a:rPr lang="en" altLang="zh-CN" sz="1200" b="0" i="0" dirty="0">
                <a:effectLst/>
                <a:latin typeface="ui-monospace"/>
              </a:rPr>
              <a:t>+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test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solidFill>
                  <a:srgbClr val="083067"/>
                </a:solidFill>
                <a:effectLst/>
                <a:latin typeface="ui-monospace"/>
              </a:rPr>
              <a:t>'arbitrary properties followed by square bracketed stuff'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 () </a:t>
            </a:r>
            <a:r>
              <a:rPr lang="en" altLang="zh-CN" sz="1200" b="0" i="0" dirty="0">
                <a:solidFill>
                  <a:srgbClr val="89B4CF"/>
                </a:solidFill>
                <a:effectLst/>
                <a:latin typeface="ui-monospace"/>
              </a:rPr>
              <a:t>=&gt;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{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r>
              <a:rPr lang="en-US" altLang="zh-CN" sz="1200" dirty="0">
                <a:latin typeface="ui-monospace"/>
              </a:rPr>
              <a:t>493  </a:t>
            </a:r>
            <a:r>
              <a:rPr lang="en" altLang="zh-CN" sz="1200" dirty="0">
                <a:latin typeface="ui-monospace"/>
              </a:rPr>
              <a:t>+     </a:t>
            </a:r>
            <a:r>
              <a:rPr lang="zh-CN" altLang="en-US" sz="1200" dirty="0">
                <a:latin typeface="ui-monospace"/>
              </a:rPr>
              <a:t> </a:t>
            </a:r>
            <a:r>
              <a:rPr lang="en" altLang="zh-CN" sz="1200" dirty="0">
                <a:solidFill>
                  <a:srgbClr val="D12A34"/>
                </a:solidFill>
                <a:latin typeface="ui-monospace"/>
              </a:rPr>
              <a:t>let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extractions </a:t>
            </a:r>
            <a:r>
              <a:rPr lang="en" altLang="zh-CN" sz="1200" b="0" i="0" dirty="0">
                <a:effectLst/>
                <a:latin typeface="ui-monospace"/>
              </a:rPr>
              <a:t>=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" altLang="zh-CN" sz="1200" b="0" i="0" dirty="0" err="1">
                <a:solidFill>
                  <a:srgbClr val="1F2328"/>
                </a:solidFill>
                <a:effectLst/>
                <a:latin typeface="ui-monospace"/>
              </a:rPr>
              <a:t>defaultExtractor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endParaRPr lang="en" altLang="zh-CN" sz="1200" dirty="0">
              <a:latin typeface="ui-monospace"/>
            </a:endParaRPr>
          </a:p>
          <a:p>
            <a:r>
              <a:rPr lang="en-US" altLang="zh-CN" sz="1200" dirty="0">
                <a:latin typeface="ui-monospace"/>
              </a:rPr>
              <a:t>494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zh-CN" altLang="en-US" sz="1200" b="0" i="0" dirty="0">
                <a:solidFill>
                  <a:srgbClr val="58636E"/>
                </a:solidFill>
                <a:effectLst/>
                <a:latin typeface="ui-monospace"/>
              </a:rPr>
              <a:t>    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'&lt;div class="h-16 items-end border border-white 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]"&gt;[foo]&lt;/div&gt;</a:t>
            </a:r>
            <a:r>
              <a:rPr lang="en" altLang="zh-CN" sz="1200" b="0" i="0" dirty="0">
                <a:solidFill>
                  <a:srgbClr val="0A3069"/>
                </a:solidFill>
                <a:effectLst/>
                <a:latin typeface="ui-monospace"/>
              </a:rPr>
              <a:t>‘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b="0" i="0" dirty="0">
                <a:effectLst/>
                <a:latin typeface="ui-monospace"/>
              </a:rPr>
              <a:t>495  +</a:t>
            </a:r>
            <a:r>
              <a:rPr lang="zh-CN" altLang="en-US" sz="1200" b="0" i="0" dirty="0">
                <a:effectLst/>
                <a:latin typeface="ui-monospace"/>
              </a:rPr>
              <a:t>     </a:t>
            </a:r>
            <a:r>
              <a:rPr lang="en-US" altLang="zh-CN" sz="1200" b="0" i="0" dirty="0">
                <a:effectLst/>
                <a:latin typeface="ui-monospace"/>
              </a:rPr>
              <a:t> </a:t>
            </a:r>
            <a:r>
              <a:rPr lang="en-US" altLang="zh-CN" sz="1200" dirty="0">
                <a:latin typeface="ui-monospace"/>
              </a:rPr>
              <a:t>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496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497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effectLst/>
                <a:latin typeface="ui-monospace"/>
              </a:rPr>
              <a:t>`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]`)</a:t>
            </a:r>
          </a:p>
          <a:p>
            <a:r>
              <a:rPr lang="en" altLang="zh-CN" sz="1200" dirty="0">
                <a:latin typeface="ui-monospace"/>
              </a:rPr>
              <a:t>498  +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</p:txBody>
      </p:sp>
      <p:cxnSp>
        <p:nvCxnSpPr>
          <p:cNvPr id="3091" name="肘形连接符 3090">
            <a:extLst>
              <a:ext uri="{FF2B5EF4-FFF2-40B4-BE49-F238E27FC236}">
                <a16:creationId xmlns:a16="http://schemas.microsoft.com/office/drawing/2014/main" id="{49FBFC89-3897-D222-9F9A-B07D2CD8939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13200" y="951906"/>
            <a:ext cx="12460" cy="804104"/>
          </a:xfrm>
          <a:prstGeom prst="bentConnector3">
            <a:avLst>
              <a:gd name="adj1" fmla="val -18470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肘形连接符 3091">
            <a:extLst>
              <a:ext uri="{FF2B5EF4-FFF2-40B4-BE49-F238E27FC236}">
                <a16:creationId xmlns:a16="http://schemas.microsoft.com/office/drawing/2014/main" id="{C086ECB3-426E-39B9-74A0-3B9865A0B5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57907" y="2788599"/>
            <a:ext cx="2355045" cy="2697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0" name="肘形连接符 3099">
            <a:extLst>
              <a:ext uri="{FF2B5EF4-FFF2-40B4-BE49-F238E27FC236}">
                <a16:creationId xmlns:a16="http://schemas.microsoft.com/office/drawing/2014/main" id="{BACA6DBB-FA71-D45B-774C-EE10F241BE9A}"/>
              </a:ext>
            </a:extLst>
          </p:cNvPr>
          <p:cNvCxnSpPr>
            <a:cxnSpLocks/>
            <a:stCxn id="30" idx="3"/>
            <a:endCxn id="3089" idx="3"/>
          </p:cNvCxnSpPr>
          <p:nvPr/>
        </p:nvCxnSpPr>
        <p:spPr>
          <a:xfrm flipH="1">
            <a:off x="5292832" y="951339"/>
            <a:ext cx="72174" cy="1982332"/>
          </a:xfrm>
          <a:prstGeom prst="bentConnector3">
            <a:avLst>
              <a:gd name="adj1" fmla="val -49489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肘形连接符 3102">
            <a:extLst>
              <a:ext uri="{FF2B5EF4-FFF2-40B4-BE49-F238E27FC236}">
                <a16:creationId xmlns:a16="http://schemas.microsoft.com/office/drawing/2014/main" id="{99A060A0-F10C-1570-F9D5-FADF62E87CC5}"/>
              </a:ext>
            </a:extLst>
          </p:cNvPr>
          <p:cNvCxnSpPr>
            <a:cxnSpLocks/>
            <a:endCxn id="3093" idx="3"/>
          </p:cNvCxnSpPr>
          <p:nvPr/>
        </p:nvCxnSpPr>
        <p:spPr>
          <a:xfrm rot="5400000">
            <a:off x="4302998" y="3919160"/>
            <a:ext cx="2388191" cy="43951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8" name="文本框 3107">
            <a:extLst>
              <a:ext uri="{FF2B5EF4-FFF2-40B4-BE49-F238E27FC236}">
                <a16:creationId xmlns:a16="http://schemas.microsoft.com/office/drawing/2014/main" id="{F8D2FCAB-A61B-9D09-FA2F-2A92F761E43C}"/>
              </a:ext>
            </a:extLst>
          </p:cNvPr>
          <p:cNvSpPr txBox="1"/>
          <p:nvPr/>
        </p:nvSpPr>
        <p:spPr>
          <a:xfrm>
            <a:off x="10506869" y="1318539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 Patch</a:t>
            </a:r>
          </a:p>
        </p:txBody>
      </p:sp>
      <p:sp>
        <p:nvSpPr>
          <p:cNvPr id="3109" name="文本框 3108">
            <a:extLst>
              <a:ext uri="{FF2B5EF4-FFF2-40B4-BE49-F238E27FC236}">
                <a16:creationId xmlns:a16="http://schemas.microsoft.com/office/drawing/2014/main" id="{10B53718-DC03-D669-8FF9-FAE81958F243}"/>
              </a:ext>
            </a:extLst>
          </p:cNvPr>
          <p:cNvSpPr txBox="1"/>
          <p:nvPr/>
        </p:nvSpPr>
        <p:spPr>
          <a:xfrm>
            <a:off x="10788147" y="3917752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</a:p>
        </p:txBody>
      </p:sp>
      <p:pic>
        <p:nvPicPr>
          <p:cNvPr id="3089" name="图片 3088">
            <a:extLst>
              <a:ext uri="{FF2B5EF4-FFF2-40B4-BE49-F238E27FC236}">
                <a16:creationId xmlns:a16="http://schemas.microsoft.com/office/drawing/2014/main" id="{88A2A4A4-AAB2-7A8B-1307-2243D1AAA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91" y="1861782"/>
            <a:ext cx="4170641" cy="214377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093" name="图片 3092">
            <a:extLst>
              <a:ext uri="{FF2B5EF4-FFF2-40B4-BE49-F238E27FC236}">
                <a16:creationId xmlns:a16="http://schemas.microsoft.com/office/drawing/2014/main" id="{A3F57228-05FD-B281-7416-75D33BC27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94" y="4219496"/>
            <a:ext cx="4170640" cy="22270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362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A198-D296-6B43-E2A4-8F5A399F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同侧圆角矩形 37">
            <a:extLst>
              <a:ext uri="{FF2B5EF4-FFF2-40B4-BE49-F238E27FC236}">
                <a16:creationId xmlns:a16="http://schemas.microsoft.com/office/drawing/2014/main" id="{59AE0A91-16D7-B40B-5B3A-F6A95F46A0ED}"/>
              </a:ext>
            </a:extLst>
          </p:cNvPr>
          <p:cNvSpPr/>
          <p:nvPr/>
        </p:nvSpPr>
        <p:spPr>
          <a:xfrm rot="10800000">
            <a:off x="403124" y="1161789"/>
            <a:ext cx="5422672" cy="536294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  <a:alpha val="8163"/>
            </a:schemeClr>
          </a:solidFill>
          <a:ln w="19050">
            <a:solidFill>
              <a:schemeClr val="tx1">
                <a:lumMod val="50000"/>
                <a:lumOff val="50000"/>
                <a:alpha val="43096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同侧圆角矩形 34">
            <a:extLst>
              <a:ext uri="{FF2B5EF4-FFF2-40B4-BE49-F238E27FC236}">
                <a16:creationId xmlns:a16="http://schemas.microsoft.com/office/drawing/2014/main" id="{3168982B-395F-BF7A-3B02-5F2B5FC6D323}"/>
              </a:ext>
            </a:extLst>
          </p:cNvPr>
          <p:cNvSpPr/>
          <p:nvPr/>
        </p:nvSpPr>
        <p:spPr>
          <a:xfrm>
            <a:off x="403124" y="242497"/>
            <a:ext cx="11354986" cy="911609"/>
          </a:xfrm>
          <a:prstGeom prst="round2SameRect">
            <a:avLst>
              <a:gd name="adj1" fmla="val 3267"/>
              <a:gd name="adj2" fmla="val 0"/>
            </a:avLst>
          </a:prstGeom>
          <a:solidFill>
            <a:srgbClr val="7030A0">
              <a:alpha val="11000"/>
            </a:srgbClr>
          </a:solidFill>
          <a:ln w="19050">
            <a:solidFill>
              <a:schemeClr val="tx1">
                <a:lumMod val="50000"/>
                <a:lumOff val="50000"/>
                <a:alpha val="44551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CDDA30-8F80-C81C-046E-39F19CA176F4}"/>
              </a:ext>
            </a:extLst>
          </p:cNvPr>
          <p:cNvSpPr txBox="1"/>
          <p:nvPr/>
        </p:nvSpPr>
        <p:spPr>
          <a:xfrm>
            <a:off x="780389" y="270464"/>
            <a:ext cx="2218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Repo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tailwindcss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188214-4E0C-1A62-ED1A-DE3337590965}"/>
              </a:ext>
            </a:extLst>
          </p:cNvPr>
          <p:cNvSpPr txBox="1"/>
          <p:nvPr/>
        </p:nvSpPr>
        <p:spPr>
          <a:xfrm>
            <a:off x="6198982" y="265483"/>
            <a:ext cx="3222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Instance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tailwindlabs__tailwindcss-10212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773CA-9EC9-EFA6-AE1C-EC1DB1AB5B1E}"/>
              </a:ext>
            </a:extLst>
          </p:cNvPr>
          <p:cNvSpPr txBox="1"/>
          <p:nvPr/>
        </p:nvSpPr>
        <p:spPr>
          <a:xfrm>
            <a:off x="780389" y="527450"/>
            <a:ext cx="207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Created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2023-04-04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07BF9F-6D0E-589C-48D0-8126CA1236D7}"/>
              </a:ext>
            </a:extLst>
          </p:cNvPr>
          <p:cNvSpPr txBox="1"/>
          <p:nvPr/>
        </p:nvSpPr>
        <p:spPr>
          <a:xfrm>
            <a:off x="3775150" y="276521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 ID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10212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D74234-312B-520D-34CA-C3BE2CBA6367}"/>
              </a:ext>
            </a:extLst>
          </p:cNvPr>
          <p:cNvSpPr txBox="1"/>
          <p:nvPr/>
        </p:nvSpPr>
        <p:spPr>
          <a:xfrm>
            <a:off x="9905780" y="279371"/>
            <a:ext cx="1064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Version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68043B-BB83-BF70-1525-7DAC3A5EB0BF}"/>
              </a:ext>
            </a:extLst>
          </p:cNvPr>
          <p:cNvSpPr txBox="1"/>
          <p:nvPr/>
        </p:nvSpPr>
        <p:spPr>
          <a:xfrm>
            <a:off x="3776400" y="527450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Base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Commit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d731049</a:t>
            </a:r>
            <a:r>
              <a:rPr kumimoji="1"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51FC72-C837-A277-A247-030FC173E705}"/>
              </a:ext>
            </a:extLst>
          </p:cNvPr>
          <p:cNvSpPr txBox="1"/>
          <p:nvPr/>
        </p:nvSpPr>
        <p:spPr>
          <a:xfrm>
            <a:off x="6198982" y="527450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["10180"]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A62A3-44B5-F7E7-6A94-5D17DC00C3A5}"/>
              </a:ext>
            </a:extLst>
          </p:cNvPr>
          <p:cNvSpPr txBox="1"/>
          <p:nvPr/>
        </p:nvSpPr>
        <p:spPr>
          <a:xfrm>
            <a:off x="6198681" y="797450"/>
            <a:ext cx="2978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Fail2Pass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"tests/default-</a:t>
            </a:r>
            <a:r>
              <a:rPr lang="en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extractor.test.js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7BFE7E-C4D4-0AA6-BD5D-CDA92A6A3987}"/>
              </a:ext>
            </a:extLst>
          </p:cNvPr>
          <p:cNvSpPr txBox="1"/>
          <p:nvPr/>
        </p:nvSpPr>
        <p:spPr>
          <a:xfrm>
            <a:off x="9907200" y="527450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Pass2Pass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AE6D46-CA3D-1D35-B38E-48EB58B0ECEC}"/>
              </a:ext>
            </a:extLst>
          </p:cNvPr>
          <p:cNvSpPr txBox="1"/>
          <p:nvPr/>
        </p:nvSpPr>
        <p:spPr>
          <a:xfrm>
            <a:off x="666180" y="1440889"/>
            <a:ext cx="5287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content with brackets [] prevents arbitrary class from being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generated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9BE30E-AB34-FD2B-C005-8A10527EEB16}"/>
              </a:ext>
            </a:extLst>
          </p:cNvPr>
          <p:cNvSpPr txBox="1"/>
          <p:nvPr/>
        </p:nvSpPr>
        <p:spPr>
          <a:xfrm>
            <a:off x="674860" y="1604984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i="0" dirty="0">
                <a:effectLst/>
              </a:rPr>
              <a:t>This works: </a:t>
            </a:r>
            <a:r>
              <a:rPr lang="en" altLang="zh-CN" sz="1200" dirty="0"/>
              <a:t> </a:t>
            </a:r>
            <a:r>
              <a:rPr lang="en" altLang="zh-CN" sz="1200" dirty="0">
                <a:solidFill>
                  <a:srgbClr val="1F6CC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https://play.tailwindcss.com/0VLICQ8oUW</a:t>
            </a:r>
            <a:r>
              <a:rPr lang="en" altLang="zh-CN" sz="1200" dirty="0">
                <a:solidFill>
                  <a:srgbClr val="1F6CC4"/>
                </a:solidFill>
              </a:rPr>
              <a:t>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8C498-EB55-99B4-6E62-4F9099562C8E}"/>
              </a:ext>
            </a:extLst>
          </p:cNvPr>
          <p:cNvSpPr txBox="1"/>
          <p:nvPr/>
        </p:nvSpPr>
        <p:spPr>
          <a:xfrm>
            <a:off x="703703" y="3962086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dirty="0"/>
              <a:t>This does not work: </a:t>
            </a:r>
            <a:r>
              <a:rPr lang="en" altLang="zh-CN" sz="1200" i="0" u="none" strike="noStrike" dirty="0">
                <a:solidFill>
                  <a:srgbClr val="F0F6FC"/>
                </a:solidFill>
                <a:effectLst/>
                <a:hlinkClick r:id="rId4"/>
              </a:rPr>
              <a:t>https://play.tailwindcss.com/5KJf7xDKv6</a:t>
            </a:r>
            <a:endParaRPr lang="en" altLang="zh-CN" sz="1200" i="0" dirty="0">
              <a:solidFill>
                <a:srgbClr val="F0F6FC"/>
              </a:solidFill>
              <a:effectLst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63BFAC-2BE1-A315-1115-23D3FD653645}"/>
              </a:ext>
            </a:extLst>
          </p:cNvPr>
          <p:cNvSpPr txBox="1"/>
          <p:nvPr/>
        </p:nvSpPr>
        <p:spPr>
          <a:xfrm>
            <a:off x="780389" y="798017"/>
            <a:ext cx="2420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Website Links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['http...', 'http…']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EC35E2-0E44-DF84-88AC-29DAD7CC27EB}"/>
              </a:ext>
            </a:extLst>
          </p:cNvPr>
          <p:cNvSpPr txBox="1"/>
          <p:nvPr/>
        </p:nvSpPr>
        <p:spPr>
          <a:xfrm>
            <a:off x="3777712" y="797450"/>
            <a:ext cx="1492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zh-CN" altLang="en-US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[...]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A0EA87D-0D4D-72D6-518F-735FC64B3DC9}"/>
              </a:ext>
            </a:extLst>
          </p:cNvPr>
          <p:cNvSpPr txBox="1"/>
          <p:nvPr/>
        </p:nvSpPr>
        <p:spPr>
          <a:xfrm>
            <a:off x="663253" y="1204250"/>
            <a:ext cx="5012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 Descriptions:</a:t>
            </a:r>
          </a:p>
        </p:txBody>
      </p:sp>
      <p:sp>
        <p:nvSpPr>
          <p:cNvPr id="44" name="同侧圆角矩形 43">
            <a:extLst>
              <a:ext uri="{FF2B5EF4-FFF2-40B4-BE49-F238E27FC236}">
                <a16:creationId xmlns:a16="http://schemas.microsoft.com/office/drawing/2014/main" id="{5928CAD0-C1A1-F28E-FCA1-EB0134892D0A}"/>
              </a:ext>
            </a:extLst>
          </p:cNvPr>
          <p:cNvSpPr/>
          <p:nvPr/>
        </p:nvSpPr>
        <p:spPr>
          <a:xfrm>
            <a:off x="5908887" y="3971305"/>
            <a:ext cx="5698578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7B7C5D-3792-1ED4-15B6-455185A41C4D}"/>
              </a:ext>
            </a:extLst>
          </p:cNvPr>
          <p:cNvSpPr txBox="1"/>
          <p:nvPr/>
        </p:nvSpPr>
        <p:spPr>
          <a:xfrm>
            <a:off x="5928502" y="3949207"/>
            <a:ext cx="4981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 err="1"/>
              <a:t>src</a:t>
            </a:r>
            <a:r>
              <a:rPr lang="en" altLang="zh-CN" sz="1200" dirty="0"/>
              <a:t>/lib/</a:t>
            </a:r>
            <a:r>
              <a:rPr lang="en" altLang="zh-CN" sz="1200" dirty="0" err="1"/>
              <a:t>defaultExtractor.js</a:t>
            </a:r>
            <a:endParaRPr lang="en" altLang="zh-CN" sz="1200" i="0" dirty="0">
              <a:effectLst/>
            </a:endParaRPr>
          </a:p>
        </p:txBody>
      </p:sp>
      <p:sp>
        <p:nvSpPr>
          <p:cNvPr id="46" name="同侧圆角矩形 45">
            <a:extLst>
              <a:ext uri="{FF2B5EF4-FFF2-40B4-BE49-F238E27FC236}">
                <a16:creationId xmlns:a16="http://schemas.microsoft.com/office/drawing/2014/main" id="{B5E05C7E-50F0-55E4-96B1-F1EA83972072}"/>
              </a:ext>
            </a:extLst>
          </p:cNvPr>
          <p:cNvSpPr/>
          <p:nvPr/>
        </p:nvSpPr>
        <p:spPr>
          <a:xfrm rot="10800000">
            <a:off x="5908886" y="4235457"/>
            <a:ext cx="5698578" cy="2039742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010081-4D5E-8E9D-867F-281DFC1765F7}"/>
              </a:ext>
            </a:extLst>
          </p:cNvPr>
          <p:cNvSpPr/>
          <p:nvPr/>
        </p:nvSpPr>
        <p:spPr>
          <a:xfrm>
            <a:off x="5910349" y="4416107"/>
            <a:ext cx="5696984" cy="367802"/>
          </a:xfrm>
          <a:prstGeom prst="rect">
            <a:avLst/>
          </a:prstGeom>
          <a:solidFill>
            <a:srgbClr val="FF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同侧圆角矩形 51">
            <a:extLst>
              <a:ext uri="{FF2B5EF4-FFF2-40B4-BE49-F238E27FC236}">
                <a16:creationId xmlns:a16="http://schemas.microsoft.com/office/drawing/2014/main" id="{58456167-F88A-4EFC-AD61-B942323A8CD3}"/>
              </a:ext>
            </a:extLst>
          </p:cNvPr>
          <p:cNvSpPr/>
          <p:nvPr/>
        </p:nvSpPr>
        <p:spPr>
          <a:xfrm rot="10800000">
            <a:off x="5908826" y="4786877"/>
            <a:ext cx="5698639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C13B4AE-5BA9-0DDC-D4BB-9A23FED68959}"/>
              </a:ext>
            </a:extLst>
          </p:cNvPr>
          <p:cNvSpPr txBox="1"/>
          <p:nvPr/>
        </p:nvSpPr>
        <p:spPr>
          <a:xfrm>
            <a:off x="5908857" y="4187919"/>
            <a:ext cx="60983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ui-monospace"/>
              </a:rPr>
              <a:t>30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  <a:r>
              <a:rPr lang="en" altLang="zh-CN" sz="1200" b="0" i="0" dirty="0">
                <a:solidFill>
                  <a:srgbClr val="D12A34"/>
                </a:solidFill>
                <a:effectLst/>
                <a:latin typeface="ui-monospace"/>
              </a:rPr>
              <a:t>let</a:t>
            </a:r>
            <a:r>
              <a:rPr lang="en" altLang="zh-CN" sz="1200" b="0" i="0" dirty="0">
                <a:effectLst/>
                <a:latin typeface="ui-monospace"/>
              </a:rPr>
              <a:t> </a:t>
            </a:r>
            <a:r>
              <a:rPr lang="en" altLang="zh-CN" sz="1200" b="0" i="0" dirty="0">
                <a:solidFill>
                  <a:srgbClr val="1E2228"/>
                </a:solidFill>
                <a:effectLst/>
                <a:latin typeface="ui-monospace"/>
              </a:rPr>
              <a:t>utility = </a:t>
            </a:r>
            <a:r>
              <a:rPr lang="en" altLang="zh-CN" sz="1200" b="0" i="0" dirty="0" err="1">
                <a:effectLst/>
                <a:latin typeface="ui-monospace"/>
              </a:rPr>
              <a:t>regex.</a:t>
            </a:r>
            <a:r>
              <a:rPr lang="en" altLang="zh-CN" sz="1200" b="0" i="0" dirty="0" err="1">
                <a:solidFill>
                  <a:srgbClr val="835CC6"/>
                </a:solidFill>
                <a:effectLst/>
                <a:latin typeface="ui-monospace"/>
              </a:rPr>
              <a:t>any</a:t>
            </a:r>
            <a:r>
              <a:rPr lang="en" altLang="zh-CN" sz="1200" b="0" i="0" dirty="0">
                <a:effectLst/>
                <a:latin typeface="ui-monospace"/>
              </a:rPr>
              <a:t>([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- 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32  -      </a:t>
            </a:r>
            <a:r>
              <a:rPr lang="en" altLang="zh-CN" sz="1200" b="0" i="0" dirty="0">
                <a:solidFill>
                  <a:srgbClr val="1658B0"/>
                </a:solidFill>
                <a:effectLst/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(without square brackets)</a:t>
            </a:r>
          </a:p>
          <a:p>
            <a:pPr marL="228600" indent="-228600">
              <a:buAutoNum type="arabicPlain" startAt="32"/>
            </a:pP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\[[^\s:'"`]+:[^\s\[\]]+\]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pPr marL="228600" indent="-228600">
              <a:buAutoNum type="arabicPlain" startAt="33"/>
            </a:pPr>
            <a:r>
              <a:rPr lang="en" altLang="zh-CN" sz="1200" dirty="0">
                <a:latin typeface="ui-monospace"/>
              </a:rPr>
              <a:t>+    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34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with balanced square brackets</a:t>
            </a:r>
          </a:p>
          <a:p>
            <a:pPr marL="228600" indent="-228600">
              <a:buAutoNum type="arabicPlain" startAt="35"/>
            </a:pPr>
            <a:r>
              <a:rPr lang="en" altLang="zh-CN" sz="1200" b="0" i="0" dirty="0">
                <a:effectLst/>
                <a:latin typeface="ui-monospace"/>
              </a:rPr>
              <a:t>+</a:t>
            </a:r>
          </a:p>
          <a:p>
            <a:pPr indent="-228600">
              <a:buFontTx/>
              <a:buAutoNum type="arabicPlain" startAt="36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with square brackets to work in arbitrary properties</a:t>
            </a:r>
          </a:p>
          <a:p>
            <a:pPr marL="228600" indent="-228600">
              <a:buFontTx/>
              <a:buAutoNum type="arabicPlain" startAt="37"/>
            </a:pPr>
            <a:r>
              <a:rPr lang="en" altLang="zh-CN" sz="1200" b="0" i="0" dirty="0">
                <a:effectLst/>
                <a:latin typeface="ui-monospace"/>
              </a:rPr>
              <a:t>+     // while fixing a problem with the regex matching too much</a:t>
            </a:r>
          </a:p>
          <a:p>
            <a:pPr marL="228600" indent="-228600">
              <a:buAutoNum type="arabicPlain" startAt="38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\[[^\s:'"`]+:[^\s]+?\[[^\s]+?\][^\s]+?\]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D8EFE5E8-E351-68A8-39EE-8B18A502A344}"/>
              </a:ext>
            </a:extLst>
          </p:cNvPr>
          <p:cNvSpPr/>
          <p:nvPr/>
        </p:nvSpPr>
        <p:spPr>
          <a:xfrm>
            <a:off x="5894523" y="1333038"/>
            <a:ext cx="5712836" cy="270510"/>
          </a:xfrm>
          <a:prstGeom prst="round2SameRect">
            <a:avLst>
              <a:gd name="adj1" fmla="val 14194"/>
              <a:gd name="adj2" fmla="val 0"/>
            </a:avLst>
          </a:prstGeom>
          <a:solidFill>
            <a:srgbClr val="F5F8FA"/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12DFE40-36DB-50F5-E817-CD7FC8C97DB0}"/>
              </a:ext>
            </a:extLst>
          </p:cNvPr>
          <p:cNvSpPr txBox="1"/>
          <p:nvPr/>
        </p:nvSpPr>
        <p:spPr>
          <a:xfrm>
            <a:off x="5914138" y="1322434"/>
            <a:ext cx="4647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tests/default-</a:t>
            </a:r>
            <a:r>
              <a:rPr lang="en" altLang="zh-CN" sz="1200" dirty="0" err="1"/>
              <a:t>extractor.test.js</a:t>
            </a:r>
            <a:endParaRPr lang="en" altLang="zh-CN" sz="1200" dirty="0"/>
          </a:p>
        </p:txBody>
      </p:sp>
      <p:sp>
        <p:nvSpPr>
          <p:cNvPr id="60" name="同侧圆角矩形 59">
            <a:extLst>
              <a:ext uri="{FF2B5EF4-FFF2-40B4-BE49-F238E27FC236}">
                <a16:creationId xmlns:a16="http://schemas.microsoft.com/office/drawing/2014/main" id="{28541009-CC4D-BD83-2D76-008221B2295C}"/>
              </a:ext>
            </a:extLst>
          </p:cNvPr>
          <p:cNvSpPr/>
          <p:nvPr/>
        </p:nvSpPr>
        <p:spPr>
          <a:xfrm rot="10800000">
            <a:off x="5894521" y="1601463"/>
            <a:ext cx="5712946" cy="2055228"/>
          </a:xfrm>
          <a:prstGeom prst="round2SameRect">
            <a:avLst>
              <a:gd name="adj1" fmla="val 4541"/>
              <a:gd name="adj2" fmla="val 0"/>
            </a:avLst>
          </a:prstGeom>
          <a:noFill/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5E517D-183C-5FA1-7F17-256BC970133A}"/>
              </a:ext>
            </a:extLst>
          </p:cNvPr>
          <p:cNvSpPr/>
          <p:nvPr/>
        </p:nvSpPr>
        <p:spPr>
          <a:xfrm>
            <a:off x="5895985" y="1777839"/>
            <a:ext cx="5711348" cy="36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同侧圆角矩形 61">
            <a:extLst>
              <a:ext uri="{FF2B5EF4-FFF2-40B4-BE49-F238E27FC236}">
                <a16:creationId xmlns:a16="http://schemas.microsoft.com/office/drawing/2014/main" id="{D3B907D5-7FC2-9680-7CF6-F5A907416080}"/>
              </a:ext>
            </a:extLst>
          </p:cNvPr>
          <p:cNvSpPr/>
          <p:nvPr/>
        </p:nvSpPr>
        <p:spPr>
          <a:xfrm rot="10800000">
            <a:off x="5894462" y="2148609"/>
            <a:ext cx="5712915" cy="1488321"/>
          </a:xfrm>
          <a:prstGeom prst="round2SameRect">
            <a:avLst>
              <a:gd name="adj1" fmla="val 5508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C0DDBD6-E2E2-E5CA-D4C5-4ABFDAAA5091}"/>
              </a:ext>
            </a:extLst>
          </p:cNvPr>
          <p:cNvSpPr txBox="1"/>
          <p:nvPr/>
        </p:nvSpPr>
        <p:spPr>
          <a:xfrm>
            <a:off x="5894495" y="1549651"/>
            <a:ext cx="58177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effectLst/>
                <a:latin typeface="ui-monospace"/>
              </a:rPr>
              <a:t>488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</a:p>
          <a:p>
            <a:r>
              <a:rPr lang="en-US" altLang="zh-CN" sz="1200" dirty="0">
                <a:latin typeface="ui-monospace"/>
              </a:rPr>
              <a:t>489</a:t>
            </a:r>
            <a:r>
              <a:rPr lang="en" altLang="zh-CN" sz="1200" b="0" i="0" dirty="0">
                <a:effectLst/>
                <a:latin typeface="ui-monospace"/>
              </a:rPr>
              <a:t>  -      </a:t>
            </a:r>
            <a:r>
              <a:rPr lang="en" altLang="zh-CN" sz="1200" b="0" i="0" dirty="0">
                <a:solidFill>
                  <a:srgbClr val="6E43BF"/>
                </a:solidFill>
                <a:effectLst/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(`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text-[#bad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a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55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]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`)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-US" altLang="zh-CN" sz="1200" dirty="0">
                <a:latin typeface="ui-monospace"/>
              </a:rPr>
              <a:t>490</a:t>
            </a:r>
            <a:r>
              <a:rPr lang="en" altLang="zh-CN" sz="1200" b="0" i="0" dirty="0">
                <a:effectLst/>
                <a:latin typeface="ui-monospace"/>
              </a:rPr>
              <a:t>  - 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491</a:t>
            </a:r>
            <a:r>
              <a:rPr lang="en" altLang="zh-CN" sz="1200" b="0" i="0" dirty="0">
                <a:effectLst/>
                <a:latin typeface="ui-monospace"/>
              </a:rPr>
              <a:t>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492</a:t>
            </a:r>
            <a:r>
              <a:rPr lang="zh-CN" altLang="en-US" sz="1200" b="0" i="0" dirty="0">
                <a:effectLst/>
                <a:latin typeface="ui-monospace"/>
              </a:rPr>
              <a:t>  </a:t>
            </a:r>
            <a:r>
              <a:rPr lang="en" altLang="zh-CN" sz="1200" b="0" i="0" dirty="0">
                <a:effectLst/>
                <a:latin typeface="ui-monospace"/>
              </a:rPr>
              <a:t>+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test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solidFill>
                  <a:srgbClr val="083067"/>
                </a:solidFill>
                <a:effectLst/>
                <a:latin typeface="ui-monospace"/>
              </a:rPr>
              <a:t>'arbitrary properties followed by square bracketed stuff'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 () </a:t>
            </a:r>
            <a:r>
              <a:rPr lang="en" altLang="zh-CN" sz="1200" b="0" i="0" dirty="0">
                <a:solidFill>
                  <a:srgbClr val="89B4CF"/>
                </a:solidFill>
                <a:effectLst/>
                <a:latin typeface="ui-monospace"/>
              </a:rPr>
              <a:t>=&gt;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{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r>
              <a:rPr lang="en-US" altLang="zh-CN" sz="1200" dirty="0">
                <a:latin typeface="ui-monospace"/>
              </a:rPr>
              <a:t>493  </a:t>
            </a:r>
            <a:r>
              <a:rPr lang="en" altLang="zh-CN" sz="1200" dirty="0">
                <a:latin typeface="ui-monospace"/>
              </a:rPr>
              <a:t>+     </a:t>
            </a:r>
            <a:r>
              <a:rPr lang="zh-CN" altLang="en-US" sz="1200" dirty="0">
                <a:latin typeface="ui-monospace"/>
              </a:rPr>
              <a:t> </a:t>
            </a:r>
            <a:r>
              <a:rPr lang="en" altLang="zh-CN" sz="1200" dirty="0">
                <a:solidFill>
                  <a:srgbClr val="D12A34"/>
                </a:solidFill>
                <a:latin typeface="ui-monospace"/>
              </a:rPr>
              <a:t>let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extractions </a:t>
            </a:r>
            <a:r>
              <a:rPr lang="en" altLang="zh-CN" sz="1200" b="0" i="0" dirty="0">
                <a:effectLst/>
                <a:latin typeface="ui-monospace"/>
              </a:rPr>
              <a:t>=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" altLang="zh-CN" sz="1200" b="0" i="0" dirty="0" err="1">
                <a:solidFill>
                  <a:srgbClr val="1F2328"/>
                </a:solidFill>
                <a:effectLst/>
                <a:latin typeface="ui-monospace"/>
              </a:rPr>
              <a:t>defaultExtractor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endParaRPr lang="en" altLang="zh-CN" sz="1200" dirty="0">
              <a:latin typeface="ui-monospace"/>
            </a:endParaRPr>
          </a:p>
          <a:p>
            <a:r>
              <a:rPr lang="en-US" altLang="zh-CN" sz="1200" dirty="0">
                <a:latin typeface="ui-monospace"/>
              </a:rPr>
              <a:t>494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zh-CN" altLang="en-US" sz="1200" b="0" i="0" dirty="0">
                <a:solidFill>
                  <a:srgbClr val="58636E"/>
                </a:solidFill>
                <a:effectLst/>
                <a:latin typeface="ui-monospace"/>
              </a:rPr>
              <a:t>    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'&lt;div class="h-16 items-end border border-white 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]"&gt;[foo]&lt;/div&gt;</a:t>
            </a:r>
            <a:r>
              <a:rPr lang="en" altLang="zh-CN" sz="1200" b="0" i="0" dirty="0">
                <a:solidFill>
                  <a:srgbClr val="0A3069"/>
                </a:solidFill>
                <a:effectLst/>
                <a:latin typeface="ui-monospace"/>
              </a:rPr>
              <a:t>‘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b="0" i="0" dirty="0">
                <a:effectLst/>
                <a:latin typeface="ui-monospace"/>
              </a:rPr>
              <a:t>495  +</a:t>
            </a:r>
            <a:r>
              <a:rPr lang="zh-CN" altLang="en-US" sz="1200" b="0" i="0" dirty="0">
                <a:effectLst/>
                <a:latin typeface="ui-monospace"/>
              </a:rPr>
              <a:t>     </a:t>
            </a:r>
            <a:r>
              <a:rPr lang="en-US" altLang="zh-CN" sz="1200" b="0" i="0" dirty="0">
                <a:effectLst/>
                <a:latin typeface="ui-monospace"/>
              </a:rPr>
              <a:t> </a:t>
            </a:r>
            <a:r>
              <a:rPr lang="en-US" altLang="zh-CN" sz="1200" dirty="0">
                <a:latin typeface="ui-monospace"/>
              </a:rPr>
              <a:t>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496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497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effectLst/>
                <a:latin typeface="ui-monospace"/>
              </a:rPr>
              <a:t>`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]`)</a:t>
            </a:r>
          </a:p>
          <a:p>
            <a:r>
              <a:rPr lang="en" altLang="zh-CN" sz="1200" dirty="0">
                <a:latin typeface="ui-monospace"/>
              </a:rPr>
              <a:t>498  +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</p:txBody>
      </p:sp>
      <p:cxnSp>
        <p:nvCxnSpPr>
          <p:cNvPr id="3091" name="肘形连接符 3090">
            <a:extLst>
              <a:ext uri="{FF2B5EF4-FFF2-40B4-BE49-F238E27FC236}">
                <a16:creationId xmlns:a16="http://schemas.microsoft.com/office/drawing/2014/main" id="{49FBFC89-3897-D222-9F9A-B07D2CD8939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13200" y="951906"/>
            <a:ext cx="12460" cy="804104"/>
          </a:xfrm>
          <a:prstGeom prst="bentConnector3">
            <a:avLst>
              <a:gd name="adj1" fmla="val -1847079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肘形连接符 3091">
            <a:extLst>
              <a:ext uri="{FF2B5EF4-FFF2-40B4-BE49-F238E27FC236}">
                <a16:creationId xmlns:a16="http://schemas.microsoft.com/office/drawing/2014/main" id="{C086ECB3-426E-39B9-74A0-3B9865A0B5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57907" y="2788599"/>
            <a:ext cx="2355045" cy="269775"/>
          </a:xfrm>
          <a:prstGeom prst="bentConnector2">
            <a:avLst/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0" name="肘形连接符 3099">
            <a:extLst>
              <a:ext uri="{FF2B5EF4-FFF2-40B4-BE49-F238E27FC236}">
                <a16:creationId xmlns:a16="http://schemas.microsoft.com/office/drawing/2014/main" id="{BACA6DBB-FA71-D45B-774C-EE10F241BE9A}"/>
              </a:ext>
            </a:extLst>
          </p:cNvPr>
          <p:cNvCxnSpPr>
            <a:cxnSpLocks/>
            <a:stCxn id="30" idx="3"/>
            <a:endCxn id="3089" idx="3"/>
          </p:cNvCxnSpPr>
          <p:nvPr/>
        </p:nvCxnSpPr>
        <p:spPr>
          <a:xfrm>
            <a:off x="5270428" y="951339"/>
            <a:ext cx="22404" cy="1982332"/>
          </a:xfrm>
          <a:prstGeom prst="bentConnector3">
            <a:avLst>
              <a:gd name="adj1" fmla="val 2085846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肘形连接符 3102">
            <a:extLst>
              <a:ext uri="{FF2B5EF4-FFF2-40B4-BE49-F238E27FC236}">
                <a16:creationId xmlns:a16="http://schemas.microsoft.com/office/drawing/2014/main" id="{99A060A0-F10C-1570-F9D5-FADF62E87CC5}"/>
              </a:ext>
            </a:extLst>
          </p:cNvPr>
          <p:cNvCxnSpPr>
            <a:cxnSpLocks/>
          </p:cNvCxnSpPr>
          <p:nvPr/>
        </p:nvCxnSpPr>
        <p:spPr>
          <a:xfrm rot="5400000">
            <a:off x="4321964" y="3909444"/>
            <a:ext cx="2388191" cy="439518"/>
          </a:xfrm>
          <a:prstGeom prst="bentConnector2">
            <a:avLst/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8" name="文本框 3107">
            <a:extLst>
              <a:ext uri="{FF2B5EF4-FFF2-40B4-BE49-F238E27FC236}">
                <a16:creationId xmlns:a16="http://schemas.microsoft.com/office/drawing/2014/main" id="{F8D2FCAB-A61B-9D09-FA2F-2A92F761E43C}"/>
              </a:ext>
            </a:extLst>
          </p:cNvPr>
          <p:cNvSpPr txBox="1"/>
          <p:nvPr/>
        </p:nvSpPr>
        <p:spPr>
          <a:xfrm>
            <a:off x="10506869" y="1318539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Test Patch</a:t>
            </a:r>
          </a:p>
        </p:txBody>
      </p:sp>
      <p:sp>
        <p:nvSpPr>
          <p:cNvPr id="3109" name="文本框 3108">
            <a:extLst>
              <a:ext uri="{FF2B5EF4-FFF2-40B4-BE49-F238E27FC236}">
                <a16:creationId xmlns:a16="http://schemas.microsoft.com/office/drawing/2014/main" id="{10B53718-DC03-D669-8FF9-FAE81958F243}"/>
              </a:ext>
            </a:extLst>
          </p:cNvPr>
          <p:cNvSpPr txBox="1"/>
          <p:nvPr/>
        </p:nvSpPr>
        <p:spPr>
          <a:xfrm>
            <a:off x="10788147" y="3917752"/>
            <a:ext cx="1470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Patch</a:t>
            </a:r>
          </a:p>
        </p:txBody>
      </p:sp>
      <p:pic>
        <p:nvPicPr>
          <p:cNvPr id="3089" name="图片 3088">
            <a:extLst>
              <a:ext uri="{FF2B5EF4-FFF2-40B4-BE49-F238E27FC236}">
                <a16:creationId xmlns:a16="http://schemas.microsoft.com/office/drawing/2014/main" id="{88A2A4A4-AAB2-7A8B-1307-2243D1AAA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91" y="1861782"/>
            <a:ext cx="4170641" cy="214377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093" name="图片 3092">
            <a:extLst>
              <a:ext uri="{FF2B5EF4-FFF2-40B4-BE49-F238E27FC236}">
                <a16:creationId xmlns:a16="http://schemas.microsoft.com/office/drawing/2014/main" id="{A3F57228-05FD-B281-7416-75D33BC27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94" y="4219496"/>
            <a:ext cx="4170640" cy="22270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同侧圆角矩形 37">
            <a:extLst>
              <a:ext uri="{FF2B5EF4-FFF2-40B4-BE49-F238E27FC236}">
                <a16:creationId xmlns:a16="http://schemas.microsoft.com/office/drawing/2014/main" id="{D00819FF-76CF-1CC0-661F-51231551D433}"/>
              </a:ext>
            </a:extLst>
          </p:cNvPr>
          <p:cNvSpPr/>
          <p:nvPr/>
        </p:nvSpPr>
        <p:spPr>
          <a:xfrm rot="10800000">
            <a:off x="5825793" y="1154106"/>
            <a:ext cx="5932313" cy="5370630"/>
          </a:xfrm>
          <a:prstGeom prst="round2SameRect">
            <a:avLst>
              <a:gd name="adj1" fmla="val 0"/>
              <a:gd name="adj2" fmla="val 0"/>
            </a:avLst>
          </a:prstGeom>
          <a:noFill/>
          <a:ln w="19050">
            <a:solidFill>
              <a:schemeClr val="tx1">
                <a:lumMod val="50000"/>
                <a:lumOff val="50000"/>
                <a:alpha val="51646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018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A198-D296-6B43-E2A4-8F5A399F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同侧圆角矩形 37">
            <a:extLst>
              <a:ext uri="{FF2B5EF4-FFF2-40B4-BE49-F238E27FC236}">
                <a16:creationId xmlns:a16="http://schemas.microsoft.com/office/drawing/2014/main" id="{59AE0A91-16D7-B40B-5B3A-F6A95F46A0ED}"/>
              </a:ext>
            </a:extLst>
          </p:cNvPr>
          <p:cNvSpPr/>
          <p:nvPr/>
        </p:nvSpPr>
        <p:spPr>
          <a:xfrm rot="10800000">
            <a:off x="403124" y="1161789"/>
            <a:ext cx="5422672" cy="49547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  <a:alpha val="8163"/>
            </a:schemeClr>
          </a:solidFill>
          <a:ln w="19050">
            <a:solidFill>
              <a:srgbClr val="D7DFE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同侧圆角矩形 34">
            <a:extLst>
              <a:ext uri="{FF2B5EF4-FFF2-40B4-BE49-F238E27FC236}">
                <a16:creationId xmlns:a16="http://schemas.microsoft.com/office/drawing/2014/main" id="{3168982B-395F-BF7A-3B02-5F2B5FC6D323}"/>
              </a:ext>
            </a:extLst>
          </p:cNvPr>
          <p:cNvSpPr/>
          <p:nvPr/>
        </p:nvSpPr>
        <p:spPr>
          <a:xfrm>
            <a:off x="403124" y="175835"/>
            <a:ext cx="11151075" cy="978271"/>
          </a:xfrm>
          <a:prstGeom prst="round2SameRect">
            <a:avLst>
              <a:gd name="adj1" fmla="val 3267"/>
              <a:gd name="adj2" fmla="val 0"/>
            </a:avLst>
          </a:prstGeom>
          <a:solidFill>
            <a:srgbClr val="7030A0">
              <a:alpha val="11000"/>
            </a:srgbClr>
          </a:solidFill>
          <a:ln w="1905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CDDA30-8F80-C81C-046E-39F19CA176F4}"/>
              </a:ext>
            </a:extLst>
          </p:cNvPr>
          <p:cNvSpPr txBox="1"/>
          <p:nvPr/>
        </p:nvSpPr>
        <p:spPr>
          <a:xfrm>
            <a:off x="780389" y="240968"/>
            <a:ext cx="2218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Repo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tailwindcss</a:t>
            </a:r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188214-4E0C-1A62-ED1A-DE3337590965}"/>
              </a:ext>
            </a:extLst>
          </p:cNvPr>
          <p:cNvSpPr txBox="1"/>
          <p:nvPr/>
        </p:nvSpPr>
        <p:spPr>
          <a:xfrm>
            <a:off x="6198982" y="235987"/>
            <a:ext cx="3222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Instance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tailwindlabs__tailwindcss-10212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773CA-9EC9-EFA6-AE1C-EC1DB1AB5B1E}"/>
              </a:ext>
            </a:extLst>
          </p:cNvPr>
          <p:cNvSpPr txBox="1"/>
          <p:nvPr/>
        </p:nvSpPr>
        <p:spPr>
          <a:xfrm>
            <a:off x="780389" y="497954"/>
            <a:ext cx="207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Created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2023-04-04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07BF9F-6D0E-589C-48D0-8126CA1236D7}"/>
              </a:ext>
            </a:extLst>
          </p:cNvPr>
          <p:cNvSpPr txBox="1"/>
          <p:nvPr/>
        </p:nvSpPr>
        <p:spPr>
          <a:xfrm>
            <a:off x="3775150" y="247025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 ID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10212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D74234-312B-520D-34CA-C3BE2CBA6367}"/>
              </a:ext>
            </a:extLst>
          </p:cNvPr>
          <p:cNvSpPr txBox="1"/>
          <p:nvPr/>
        </p:nvSpPr>
        <p:spPr>
          <a:xfrm>
            <a:off x="9905780" y="249875"/>
            <a:ext cx="1064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Version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68043B-BB83-BF70-1525-7DAC3A5EB0BF}"/>
              </a:ext>
            </a:extLst>
          </p:cNvPr>
          <p:cNvSpPr txBox="1"/>
          <p:nvPr/>
        </p:nvSpPr>
        <p:spPr>
          <a:xfrm>
            <a:off x="3776400" y="497954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Base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Commit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d731049</a:t>
            </a:r>
            <a:r>
              <a:rPr kumimoji="1"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51FC72-C837-A277-A247-030FC173E705}"/>
              </a:ext>
            </a:extLst>
          </p:cNvPr>
          <p:cNvSpPr txBox="1"/>
          <p:nvPr/>
        </p:nvSpPr>
        <p:spPr>
          <a:xfrm>
            <a:off x="6198982" y="497954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["10180"]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A62A3-44B5-F7E7-6A94-5D17DC00C3A5}"/>
              </a:ext>
            </a:extLst>
          </p:cNvPr>
          <p:cNvSpPr txBox="1"/>
          <p:nvPr/>
        </p:nvSpPr>
        <p:spPr>
          <a:xfrm>
            <a:off x="6198681" y="767954"/>
            <a:ext cx="2978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Fail2Pass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"tests/default-</a:t>
            </a:r>
            <a:r>
              <a:rPr lang="en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extractor.test.js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7BFE7E-C4D4-0AA6-BD5D-CDA92A6A3987}"/>
              </a:ext>
            </a:extLst>
          </p:cNvPr>
          <p:cNvSpPr txBox="1"/>
          <p:nvPr/>
        </p:nvSpPr>
        <p:spPr>
          <a:xfrm>
            <a:off x="9907200" y="497954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Pass2Pass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AE6D46-CA3D-1D35-B38E-48EB58B0ECEC}"/>
              </a:ext>
            </a:extLst>
          </p:cNvPr>
          <p:cNvSpPr txBox="1"/>
          <p:nvPr/>
        </p:nvSpPr>
        <p:spPr>
          <a:xfrm>
            <a:off x="780388" y="1495553"/>
            <a:ext cx="4791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Div content with brackets [] prevents arbitrary class from being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generated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9BE30E-AB34-FD2B-C005-8A10527EEB16}"/>
              </a:ext>
            </a:extLst>
          </p:cNvPr>
          <p:cNvSpPr txBox="1"/>
          <p:nvPr/>
        </p:nvSpPr>
        <p:spPr>
          <a:xfrm>
            <a:off x="780344" y="1687080"/>
            <a:ext cx="4617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works: </a:t>
            </a:r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200" dirty="0">
                <a:solidFill>
                  <a:srgbClr val="1F6CC4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https://play.tailwindcss.com/0VLICQ8oUW</a:t>
            </a:r>
            <a:r>
              <a:rPr lang="en" altLang="zh-CN" sz="1200" dirty="0">
                <a:solidFill>
                  <a:srgbClr val="1F6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8C498-EB55-99B4-6E62-4F9099562C8E}"/>
              </a:ext>
            </a:extLst>
          </p:cNvPr>
          <p:cNvSpPr txBox="1"/>
          <p:nvPr/>
        </p:nvSpPr>
        <p:spPr>
          <a:xfrm>
            <a:off x="780389" y="3825079"/>
            <a:ext cx="4410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does not work: </a:t>
            </a:r>
            <a:r>
              <a:rPr lang="en" altLang="zh-CN" sz="1200" i="0" u="none" strike="noStrike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https://play.tailwindcss.com/5KJf7xDKv6</a:t>
            </a:r>
            <a:endParaRPr lang="en" altLang="zh-CN" sz="120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63BFAC-2BE1-A315-1115-23D3FD653645}"/>
              </a:ext>
            </a:extLst>
          </p:cNvPr>
          <p:cNvSpPr txBox="1"/>
          <p:nvPr/>
        </p:nvSpPr>
        <p:spPr>
          <a:xfrm>
            <a:off x="780389" y="768521"/>
            <a:ext cx="2420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Website Links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['http...', 'http…']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EC35E2-0E44-DF84-88AC-29DAD7CC27EB}"/>
              </a:ext>
            </a:extLst>
          </p:cNvPr>
          <p:cNvSpPr txBox="1"/>
          <p:nvPr/>
        </p:nvSpPr>
        <p:spPr>
          <a:xfrm>
            <a:off x="3777712" y="767954"/>
            <a:ext cx="1492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zh-CN" altLang="en-US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Images</a:t>
            </a:r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[...]</a:t>
            </a:r>
            <a:endParaRPr lang="en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A0EA87D-0D4D-72D6-518F-735FC64B3DC9}"/>
              </a:ext>
            </a:extLst>
          </p:cNvPr>
          <p:cNvSpPr txBox="1"/>
          <p:nvPr/>
        </p:nvSpPr>
        <p:spPr>
          <a:xfrm>
            <a:off x="2134991" y="1189087"/>
            <a:ext cx="1958935" cy="307777"/>
          </a:xfrm>
          <a:prstGeom prst="rect">
            <a:avLst/>
          </a:prstGeom>
          <a:solidFill>
            <a:srgbClr val="0070C0">
              <a:alpha val="89007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" altLang="zh-CN" dirty="0"/>
              <a:t>Issue Descriptions</a:t>
            </a:r>
          </a:p>
        </p:txBody>
      </p:sp>
      <p:sp>
        <p:nvSpPr>
          <p:cNvPr id="44" name="同侧圆角矩形 43">
            <a:extLst>
              <a:ext uri="{FF2B5EF4-FFF2-40B4-BE49-F238E27FC236}">
                <a16:creationId xmlns:a16="http://schemas.microsoft.com/office/drawing/2014/main" id="{5928CAD0-C1A1-F28E-FCA1-EB0134892D0A}"/>
              </a:ext>
            </a:extLst>
          </p:cNvPr>
          <p:cNvSpPr/>
          <p:nvPr/>
        </p:nvSpPr>
        <p:spPr>
          <a:xfrm>
            <a:off x="5833316" y="3758651"/>
            <a:ext cx="5698578" cy="32252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70C0">
              <a:alpha val="14852"/>
            </a:srgbClr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src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/lib/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defaultExtractor.js</a:t>
            </a:r>
            <a:endParaRPr lang="en" altLang="zh-CN" sz="1400" dirty="0">
              <a:solidFill>
                <a:prstClr val="black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010081-4D5E-8E9D-867F-281DFC1765F7}"/>
              </a:ext>
            </a:extLst>
          </p:cNvPr>
          <p:cNvSpPr/>
          <p:nvPr/>
        </p:nvSpPr>
        <p:spPr>
          <a:xfrm>
            <a:off x="5837030" y="4260798"/>
            <a:ext cx="5686137" cy="367802"/>
          </a:xfrm>
          <a:prstGeom prst="rect">
            <a:avLst/>
          </a:prstGeom>
          <a:solidFill>
            <a:srgbClr val="FF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同侧圆角矩形 51">
            <a:extLst>
              <a:ext uri="{FF2B5EF4-FFF2-40B4-BE49-F238E27FC236}">
                <a16:creationId xmlns:a16="http://schemas.microsoft.com/office/drawing/2014/main" id="{58456167-F88A-4EFC-AD61-B942323A8CD3}"/>
              </a:ext>
            </a:extLst>
          </p:cNvPr>
          <p:cNvSpPr/>
          <p:nvPr/>
        </p:nvSpPr>
        <p:spPr>
          <a:xfrm rot="10800000">
            <a:off x="5833316" y="4636993"/>
            <a:ext cx="5696983" cy="148832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C13B4AE-5BA9-0DDC-D4BB-9A23FED68959}"/>
              </a:ext>
            </a:extLst>
          </p:cNvPr>
          <p:cNvSpPr txBox="1"/>
          <p:nvPr/>
        </p:nvSpPr>
        <p:spPr>
          <a:xfrm>
            <a:off x="5859562" y="4047897"/>
            <a:ext cx="54947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ui-monospace"/>
              </a:rPr>
              <a:t>30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  <a:r>
              <a:rPr lang="en" altLang="zh-CN" sz="1200" b="0" i="0" dirty="0">
                <a:solidFill>
                  <a:srgbClr val="D12A34"/>
                </a:solidFill>
                <a:effectLst/>
                <a:latin typeface="ui-monospace"/>
              </a:rPr>
              <a:t>let</a:t>
            </a:r>
            <a:r>
              <a:rPr lang="en" altLang="zh-CN" sz="1200" b="0" i="0" dirty="0">
                <a:effectLst/>
                <a:latin typeface="ui-monospace"/>
              </a:rPr>
              <a:t> </a:t>
            </a:r>
            <a:r>
              <a:rPr lang="en" altLang="zh-CN" sz="1200" b="0" i="0" dirty="0">
                <a:solidFill>
                  <a:srgbClr val="1E2228"/>
                </a:solidFill>
                <a:effectLst/>
                <a:latin typeface="ui-monospace"/>
              </a:rPr>
              <a:t>utility = </a:t>
            </a:r>
            <a:r>
              <a:rPr lang="en" altLang="zh-CN" sz="1200" b="0" i="0" dirty="0" err="1">
                <a:effectLst/>
                <a:latin typeface="ui-monospace"/>
              </a:rPr>
              <a:t>regex.</a:t>
            </a:r>
            <a:r>
              <a:rPr lang="en" altLang="zh-CN" sz="1200" b="0" i="0" dirty="0" err="1">
                <a:solidFill>
                  <a:srgbClr val="835CC6"/>
                </a:solidFill>
                <a:effectLst/>
                <a:latin typeface="ui-monospace"/>
              </a:rPr>
              <a:t>any</a:t>
            </a:r>
            <a:r>
              <a:rPr lang="en" altLang="zh-CN" sz="1200" b="0" i="0" dirty="0">
                <a:effectLst/>
                <a:latin typeface="ui-monospace"/>
              </a:rPr>
              <a:t>([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- 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32  -      </a:t>
            </a:r>
            <a:r>
              <a:rPr lang="en" altLang="zh-CN" sz="1200" b="0" i="0" dirty="0">
                <a:solidFill>
                  <a:srgbClr val="1658B0"/>
                </a:solidFill>
                <a:effectLst/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31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(without square brackets)</a:t>
            </a:r>
          </a:p>
          <a:p>
            <a:pPr marL="228600" indent="-228600">
              <a:buAutoNum type="arabicPlain" startAt="32"/>
            </a:pP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\[[^\s:'"`]+:[^\s\[\]]+\]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pPr marL="228600" indent="-228600">
              <a:buAutoNum type="arabicPlain" startAt="33"/>
            </a:pPr>
            <a:r>
              <a:rPr lang="en" altLang="zh-CN" sz="1200" dirty="0">
                <a:latin typeface="ui-monospace"/>
              </a:rPr>
              <a:t>+     </a:t>
            </a:r>
          </a:p>
          <a:p>
            <a:r>
              <a:rPr lang="en" altLang="zh-CN" sz="1200" b="0" i="0" dirty="0">
                <a:effectLst/>
                <a:latin typeface="ui-monospace"/>
              </a:rPr>
              <a:t>34  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Arbitrary properties with balanced square brackets</a:t>
            </a:r>
          </a:p>
          <a:p>
            <a:pPr marL="228600" indent="-228600">
              <a:buAutoNum type="arabicPlain" startAt="35"/>
            </a:pPr>
            <a:r>
              <a:rPr lang="en" altLang="zh-CN" sz="1200" b="0" i="0" dirty="0">
                <a:effectLst/>
                <a:latin typeface="ui-monospace"/>
              </a:rPr>
              <a:t>+</a:t>
            </a:r>
          </a:p>
          <a:p>
            <a:pPr indent="-228600">
              <a:buFontTx/>
              <a:buAutoNum type="arabicPlain" startAt="36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58636E"/>
                </a:solidFill>
                <a:latin typeface="ui-monospace"/>
              </a:rPr>
              <a:t>// with square brackets to work in arbitrary properties</a:t>
            </a:r>
          </a:p>
          <a:p>
            <a:pPr marL="228600" indent="-228600">
              <a:buFontTx/>
              <a:buAutoNum type="arabicPlain" startAt="37"/>
            </a:pPr>
            <a:r>
              <a:rPr lang="en" altLang="zh-CN" sz="1200" b="0" i="0" dirty="0">
                <a:effectLst/>
                <a:latin typeface="ui-monospace"/>
              </a:rPr>
              <a:t>+     // while fixing a problem with the regex matching too much</a:t>
            </a:r>
          </a:p>
          <a:p>
            <a:pPr marL="228600" indent="-228600">
              <a:buAutoNum type="arabicPlain" startAt="38"/>
            </a:pPr>
            <a:r>
              <a:rPr lang="en" altLang="zh-CN" sz="1200" dirty="0">
                <a:latin typeface="ui-monospace"/>
              </a:rPr>
              <a:t>+     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\[[^\s:'"`]+:[^\s]+?\[[^\s]+?\][^\s]+?\]</a:t>
            </a:r>
            <a:r>
              <a:rPr lang="en" altLang="zh-CN" sz="1200" dirty="0">
                <a:solidFill>
                  <a:srgbClr val="1658B0"/>
                </a:solidFill>
                <a:latin typeface="ui-monospace"/>
              </a:rPr>
              <a:t>/</a:t>
            </a:r>
            <a:r>
              <a:rPr lang="en" altLang="zh-CN" sz="1200" b="0" i="0" dirty="0">
                <a:effectLst/>
                <a:latin typeface="ui-monospace"/>
              </a:rPr>
              <a:t>,</a:t>
            </a: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D8EFE5E8-E351-68A8-39EE-8B18A502A344}"/>
              </a:ext>
            </a:extLst>
          </p:cNvPr>
          <p:cNvSpPr/>
          <p:nvPr/>
        </p:nvSpPr>
        <p:spPr>
          <a:xfrm>
            <a:off x="5841389" y="1155393"/>
            <a:ext cx="5688910" cy="32252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70C0">
              <a:alpha val="14852"/>
            </a:srgbClr>
          </a:solidFill>
          <a:ln w="19050">
            <a:solidFill>
              <a:srgbClr val="D7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tests/default-</a:t>
            </a:r>
            <a:r>
              <a:rPr kumimoji="0" lang="en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extractor.test.js</a:t>
            </a:r>
            <a:endParaRPr kumimoji="0" lang="e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5E517D-183C-5FA1-7F17-256BC970133A}"/>
              </a:ext>
            </a:extLst>
          </p:cNvPr>
          <p:cNvSpPr/>
          <p:nvPr/>
        </p:nvSpPr>
        <p:spPr>
          <a:xfrm>
            <a:off x="5842851" y="1652213"/>
            <a:ext cx="5711348" cy="36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同侧圆角矩形 61">
            <a:extLst>
              <a:ext uri="{FF2B5EF4-FFF2-40B4-BE49-F238E27FC236}">
                <a16:creationId xmlns:a16="http://schemas.microsoft.com/office/drawing/2014/main" id="{D3B907D5-7FC2-9680-7CF6-F5A907416080}"/>
              </a:ext>
            </a:extLst>
          </p:cNvPr>
          <p:cNvSpPr/>
          <p:nvPr/>
        </p:nvSpPr>
        <p:spPr>
          <a:xfrm rot="10800000">
            <a:off x="5841328" y="2022983"/>
            <a:ext cx="5712915" cy="148832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AF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C0DDBD6-E2E2-E5CA-D4C5-4ABFDAAA5091}"/>
              </a:ext>
            </a:extLst>
          </p:cNvPr>
          <p:cNvSpPr txBox="1"/>
          <p:nvPr/>
        </p:nvSpPr>
        <p:spPr>
          <a:xfrm>
            <a:off x="5841328" y="1460806"/>
            <a:ext cx="57586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effectLst/>
                <a:latin typeface="ui-monospace"/>
              </a:rPr>
              <a:t>488</a:t>
            </a:r>
            <a:r>
              <a:rPr lang="en" altLang="zh-CN" sz="1200" b="0" i="0" dirty="0">
                <a:effectLst/>
                <a:latin typeface="ui-monospace"/>
              </a:rPr>
              <a:t>      </a:t>
            </a:r>
          </a:p>
          <a:p>
            <a:r>
              <a:rPr lang="en-US" altLang="zh-CN" sz="1200" dirty="0">
                <a:latin typeface="ui-monospace"/>
              </a:rPr>
              <a:t>489</a:t>
            </a:r>
            <a:r>
              <a:rPr lang="en" altLang="zh-CN" sz="1200" b="0" i="0" dirty="0">
                <a:effectLst/>
                <a:latin typeface="ui-monospace"/>
              </a:rPr>
              <a:t>  -      </a:t>
            </a:r>
            <a:r>
              <a:rPr lang="en" altLang="zh-CN" sz="1200" b="0" i="0" dirty="0">
                <a:solidFill>
                  <a:srgbClr val="6E43BF"/>
                </a:solidFill>
                <a:effectLst/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(`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text-[#bad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a</a:t>
            </a:r>
            <a:r>
              <a:rPr lang="en" altLang="zh-CN" sz="1200" b="0" i="0" dirty="0">
                <a:solidFill>
                  <a:srgbClr val="072F69"/>
                </a:solidFill>
                <a:effectLst/>
                <a:latin typeface="ui-monospace"/>
              </a:rPr>
              <a:t>55</a:t>
            </a:r>
            <a:r>
              <a:rPr lang="en" altLang="zh-CN" sz="1200" dirty="0">
                <a:solidFill>
                  <a:srgbClr val="072F69"/>
                </a:solidFill>
                <a:latin typeface="ui-monospace"/>
              </a:rPr>
              <a:t>]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`)</a:t>
            </a:r>
            <a:r>
              <a:rPr lang="en-US" altLang="zh-CN" sz="1200" dirty="0">
                <a:solidFill>
                  <a:srgbClr val="58636E"/>
                </a:solidFill>
                <a:latin typeface="ui-monospace"/>
              </a:rPr>
              <a:t> </a:t>
            </a:r>
          </a:p>
          <a:p>
            <a:r>
              <a:rPr lang="en-US" altLang="zh-CN" sz="1200" dirty="0">
                <a:latin typeface="ui-monospace"/>
              </a:rPr>
              <a:t>490</a:t>
            </a:r>
            <a:r>
              <a:rPr lang="en" altLang="zh-CN" sz="1200" b="0" i="0" dirty="0">
                <a:effectLst/>
                <a:latin typeface="ui-monospace"/>
              </a:rPr>
              <a:t>  - 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491</a:t>
            </a:r>
            <a:r>
              <a:rPr lang="en" altLang="zh-CN" sz="1200" b="0" i="0" dirty="0">
                <a:effectLst/>
                <a:latin typeface="ui-monospace"/>
              </a:rPr>
              <a:t>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-US" altLang="zh-CN" sz="1200" b="0" i="0" dirty="0">
                <a:effectLst/>
                <a:latin typeface="ui-monospace"/>
              </a:rPr>
              <a:t>492</a:t>
            </a:r>
            <a:r>
              <a:rPr lang="zh-CN" altLang="en-US" sz="1200" b="0" i="0" dirty="0">
                <a:effectLst/>
                <a:latin typeface="ui-monospace"/>
              </a:rPr>
              <a:t>  </a:t>
            </a:r>
            <a:r>
              <a:rPr lang="en" altLang="zh-CN" sz="1200" b="0" i="0" dirty="0">
                <a:effectLst/>
                <a:latin typeface="ui-monospace"/>
              </a:rPr>
              <a:t>+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test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solidFill>
                  <a:srgbClr val="083067"/>
                </a:solidFill>
                <a:effectLst/>
                <a:latin typeface="ui-monospace"/>
              </a:rPr>
              <a:t>'arbitrary properties followed by square bracketed stuff'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, () </a:t>
            </a:r>
            <a:r>
              <a:rPr lang="en" altLang="zh-CN" sz="1200" b="0" i="0" dirty="0">
                <a:solidFill>
                  <a:srgbClr val="89B4CF"/>
                </a:solidFill>
                <a:effectLst/>
                <a:latin typeface="ui-monospace"/>
              </a:rPr>
              <a:t>=&gt;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{</a:t>
            </a:r>
            <a:r>
              <a:rPr lang="en" altLang="zh-CN" sz="1200" b="0" i="0" dirty="0">
                <a:effectLst/>
                <a:latin typeface="ui-monospace"/>
              </a:rPr>
              <a:t>  </a:t>
            </a:r>
          </a:p>
          <a:p>
            <a:r>
              <a:rPr lang="en-US" altLang="zh-CN" sz="1200" dirty="0">
                <a:latin typeface="ui-monospace"/>
              </a:rPr>
              <a:t>493  </a:t>
            </a:r>
            <a:r>
              <a:rPr lang="en" altLang="zh-CN" sz="1200" dirty="0">
                <a:latin typeface="ui-monospace"/>
              </a:rPr>
              <a:t>+     </a:t>
            </a:r>
            <a:r>
              <a:rPr lang="zh-CN" altLang="en-US" sz="1200" dirty="0">
                <a:latin typeface="ui-monospace"/>
              </a:rPr>
              <a:t> </a:t>
            </a:r>
            <a:r>
              <a:rPr lang="en" altLang="zh-CN" sz="1200" dirty="0">
                <a:solidFill>
                  <a:srgbClr val="D12A34"/>
                </a:solidFill>
                <a:latin typeface="ui-monospace"/>
              </a:rPr>
              <a:t>let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extractions </a:t>
            </a:r>
            <a:r>
              <a:rPr lang="en" altLang="zh-CN" sz="1200" b="0" i="0" dirty="0">
                <a:effectLst/>
                <a:latin typeface="ui-monospace"/>
              </a:rPr>
              <a:t>=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 </a:t>
            </a:r>
            <a:r>
              <a:rPr lang="en" altLang="zh-CN" sz="1200" b="0" i="0" dirty="0" err="1">
                <a:solidFill>
                  <a:srgbClr val="1F2328"/>
                </a:solidFill>
                <a:effectLst/>
                <a:latin typeface="ui-monospace"/>
              </a:rPr>
              <a:t>defaultExtractor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endParaRPr lang="en" altLang="zh-CN" sz="1200" dirty="0">
              <a:latin typeface="ui-monospace"/>
            </a:endParaRPr>
          </a:p>
          <a:p>
            <a:r>
              <a:rPr lang="en-US" altLang="zh-CN" sz="1200" dirty="0">
                <a:latin typeface="ui-monospace"/>
              </a:rPr>
              <a:t>494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zh-CN" altLang="en-US" sz="1200" b="0" i="0" dirty="0">
                <a:solidFill>
                  <a:srgbClr val="58636E"/>
                </a:solidFill>
                <a:effectLst/>
                <a:latin typeface="ui-monospace"/>
              </a:rPr>
              <a:t>    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'&lt;div class="h-16 items-end border border-white 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]"&gt;[foo]&lt;/div&gt;</a:t>
            </a:r>
            <a:r>
              <a:rPr lang="zh-CN" altLang="en-US" sz="1200" dirty="0">
                <a:solidFill>
                  <a:srgbClr val="083067"/>
                </a:solidFill>
                <a:latin typeface="ui-monospace"/>
              </a:rPr>
              <a:t>‘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b="0" i="0" dirty="0">
                <a:effectLst/>
                <a:latin typeface="ui-monospace"/>
              </a:rPr>
              <a:t>495  +</a:t>
            </a:r>
            <a:r>
              <a:rPr lang="zh-CN" altLang="en-US" sz="1200" b="0" i="0" dirty="0">
                <a:effectLst/>
                <a:latin typeface="ui-monospace"/>
              </a:rPr>
              <a:t>     </a:t>
            </a:r>
            <a:r>
              <a:rPr lang="en-US" altLang="zh-CN" sz="1200" b="0" i="0" dirty="0">
                <a:effectLst/>
                <a:latin typeface="ui-monospace"/>
              </a:rPr>
              <a:t> </a:t>
            </a:r>
            <a:r>
              <a:rPr lang="en-US" altLang="zh-CN" sz="1200" dirty="0">
                <a:latin typeface="ui-monospace"/>
              </a:rPr>
              <a:t>)</a:t>
            </a:r>
            <a:endParaRPr lang="en" altLang="zh-CN" sz="1200" b="0" i="0" dirty="0">
              <a:effectLst/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496  +     </a:t>
            </a:r>
            <a:endParaRPr lang="en" altLang="zh-CN" sz="1200" dirty="0">
              <a:solidFill>
                <a:srgbClr val="58636E"/>
              </a:solidFill>
              <a:latin typeface="ui-monospace"/>
            </a:endParaRPr>
          </a:p>
          <a:p>
            <a:r>
              <a:rPr lang="en" altLang="zh-CN" sz="1200" dirty="0">
                <a:latin typeface="ui-monospace"/>
              </a:rPr>
              <a:t>497  </a:t>
            </a:r>
            <a:r>
              <a:rPr lang="en" altLang="zh-CN" sz="1200" b="0" i="0" dirty="0">
                <a:effectLst/>
                <a:latin typeface="ui-monospace"/>
              </a:rPr>
              <a:t>+     </a:t>
            </a:r>
            <a:r>
              <a:rPr lang="en" altLang="zh-CN" sz="1200" dirty="0">
                <a:solidFill>
                  <a:srgbClr val="6E43BF"/>
                </a:solidFill>
                <a:latin typeface="ui-monospace"/>
              </a:rPr>
              <a:t>expect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(extractions).</a:t>
            </a:r>
            <a:r>
              <a:rPr lang="en" altLang="zh-CN" sz="1200" dirty="0" err="1">
                <a:solidFill>
                  <a:srgbClr val="6E43BF"/>
                </a:solidFill>
                <a:latin typeface="ui-monospace"/>
              </a:rPr>
              <a:t>toContain</a:t>
            </a:r>
            <a:r>
              <a:rPr lang="en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(</a:t>
            </a:r>
            <a:r>
              <a:rPr lang="en" altLang="zh-CN" sz="1200" b="0" i="0" dirty="0">
                <a:effectLst/>
                <a:latin typeface="ui-monospace"/>
              </a:rPr>
              <a:t>`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[</a:t>
            </a:r>
            <a:r>
              <a:rPr lang="en" altLang="zh-CN" sz="1200" dirty="0" err="1">
                <a:solidFill>
                  <a:srgbClr val="083067"/>
                </a:solidFill>
                <a:latin typeface="ui-monospace"/>
              </a:rPr>
              <a:t>display:inherit</a:t>
            </a:r>
            <a:r>
              <a:rPr lang="en" altLang="zh-CN" sz="1200" dirty="0">
                <a:solidFill>
                  <a:srgbClr val="083067"/>
                </a:solidFill>
                <a:latin typeface="ui-monospace"/>
              </a:rPr>
              <a:t>]`)</a:t>
            </a:r>
          </a:p>
          <a:p>
            <a:r>
              <a:rPr lang="en" altLang="zh-CN" sz="1200" dirty="0">
                <a:latin typeface="ui-monospace"/>
              </a:rPr>
              <a:t>498  + 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ui-monospace"/>
              </a:rPr>
              <a:t>})</a:t>
            </a:r>
            <a:endParaRPr lang="en" altLang="zh-CN" sz="1200" b="0" i="0" dirty="0">
              <a:effectLst/>
              <a:latin typeface="ui-monospace"/>
            </a:endParaRPr>
          </a:p>
        </p:txBody>
      </p:sp>
      <p:cxnSp>
        <p:nvCxnSpPr>
          <p:cNvPr id="3091" name="肘形连接符 3090">
            <a:extLst>
              <a:ext uri="{FF2B5EF4-FFF2-40B4-BE49-F238E27FC236}">
                <a16:creationId xmlns:a16="http://schemas.microsoft.com/office/drawing/2014/main" id="{49FBFC89-3897-D222-9F9A-B07D2CD89399}"/>
              </a:ext>
            </a:extLst>
          </p:cNvPr>
          <p:cNvCxnSpPr>
            <a:cxnSpLocks/>
            <a:stCxn id="29" idx="1"/>
            <a:endCxn id="24" idx="1"/>
          </p:cNvCxnSpPr>
          <p:nvPr/>
        </p:nvCxnSpPr>
        <p:spPr>
          <a:xfrm rot="10800000" flipV="1">
            <a:off x="780345" y="922410"/>
            <a:ext cx="45" cy="903170"/>
          </a:xfrm>
          <a:prstGeom prst="bentConnector3">
            <a:avLst>
              <a:gd name="adj1" fmla="val 484471111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肘形连接符 3091">
            <a:extLst>
              <a:ext uri="{FF2B5EF4-FFF2-40B4-BE49-F238E27FC236}">
                <a16:creationId xmlns:a16="http://schemas.microsoft.com/office/drawing/2014/main" id="{C086ECB3-426E-39B9-74A0-3B9865A0B574}"/>
              </a:ext>
            </a:extLst>
          </p:cNvPr>
          <p:cNvCxnSpPr>
            <a:cxnSpLocks/>
            <a:stCxn id="29" idx="1"/>
            <a:endCxn id="26" idx="1"/>
          </p:cNvCxnSpPr>
          <p:nvPr/>
        </p:nvCxnSpPr>
        <p:spPr>
          <a:xfrm rot="10800000" flipV="1">
            <a:off x="780389" y="922409"/>
            <a:ext cx="12700" cy="3041169"/>
          </a:xfrm>
          <a:prstGeom prst="bentConnector3">
            <a:avLst>
              <a:gd name="adj1" fmla="val 1800000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0" name="肘形连接符 3099">
            <a:extLst>
              <a:ext uri="{FF2B5EF4-FFF2-40B4-BE49-F238E27FC236}">
                <a16:creationId xmlns:a16="http://schemas.microsoft.com/office/drawing/2014/main" id="{BACA6DBB-FA71-D45B-774C-EE10F241BE9A}"/>
              </a:ext>
            </a:extLst>
          </p:cNvPr>
          <p:cNvCxnSpPr>
            <a:cxnSpLocks/>
            <a:stCxn id="30" idx="3"/>
            <a:endCxn id="3089" idx="3"/>
          </p:cNvCxnSpPr>
          <p:nvPr/>
        </p:nvCxnSpPr>
        <p:spPr>
          <a:xfrm flipH="1">
            <a:off x="4820907" y="921843"/>
            <a:ext cx="449521" cy="1958236"/>
          </a:xfrm>
          <a:prstGeom prst="bentConnector3">
            <a:avLst>
              <a:gd name="adj1" fmla="val -50854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肘形连接符 3102">
            <a:extLst>
              <a:ext uri="{FF2B5EF4-FFF2-40B4-BE49-F238E27FC236}">
                <a16:creationId xmlns:a16="http://schemas.microsoft.com/office/drawing/2014/main" id="{99A060A0-F10C-1570-F9D5-FADF62E87CC5}"/>
              </a:ext>
            </a:extLst>
          </p:cNvPr>
          <p:cNvCxnSpPr>
            <a:cxnSpLocks/>
            <a:stCxn id="30" idx="3"/>
            <a:endCxn id="3093" idx="3"/>
          </p:cNvCxnSpPr>
          <p:nvPr/>
        </p:nvCxnSpPr>
        <p:spPr>
          <a:xfrm flipH="1">
            <a:off x="4832866" y="921843"/>
            <a:ext cx="437562" cy="4127139"/>
          </a:xfrm>
          <a:prstGeom prst="bentConnector3">
            <a:avLst>
              <a:gd name="adj1" fmla="val -52244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8" name="文本框 3107">
            <a:extLst>
              <a:ext uri="{FF2B5EF4-FFF2-40B4-BE49-F238E27FC236}">
                <a16:creationId xmlns:a16="http://schemas.microsoft.com/office/drawing/2014/main" id="{F8D2FCAB-A61B-9D09-FA2F-2A92F761E43C}"/>
              </a:ext>
            </a:extLst>
          </p:cNvPr>
          <p:cNvSpPr txBox="1"/>
          <p:nvPr/>
        </p:nvSpPr>
        <p:spPr>
          <a:xfrm>
            <a:off x="10252409" y="1162768"/>
            <a:ext cx="1293422" cy="307777"/>
          </a:xfrm>
          <a:prstGeom prst="rect">
            <a:avLst/>
          </a:prstGeom>
          <a:solidFill>
            <a:srgbClr val="0070C0">
              <a:alpha val="89007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" altLang="zh-CN" dirty="0"/>
              <a:t>Test Patch</a:t>
            </a:r>
          </a:p>
        </p:txBody>
      </p:sp>
      <p:sp>
        <p:nvSpPr>
          <p:cNvPr id="3109" name="文本框 3108">
            <a:extLst>
              <a:ext uri="{FF2B5EF4-FFF2-40B4-BE49-F238E27FC236}">
                <a16:creationId xmlns:a16="http://schemas.microsoft.com/office/drawing/2014/main" id="{10B53718-DC03-D669-8FF9-FAE81958F243}"/>
              </a:ext>
            </a:extLst>
          </p:cNvPr>
          <p:cNvSpPr txBox="1"/>
          <p:nvPr/>
        </p:nvSpPr>
        <p:spPr>
          <a:xfrm>
            <a:off x="10252409" y="3758652"/>
            <a:ext cx="1293422" cy="321496"/>
          </a:xfrm>
          <a:prstGeom prst="rect">
            <a:avLst/>
          </a:prstGeom>
          <a:solidFill>
            <a:srgbClr val="0070C0">
              <a:alpha val="89007"/>
            </a:srgb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" altLang="zh-CN" dirty="0"/>
              <a:t>Patch</a:t>
            </a:r>
          </a:p>
        </p:txBody>
      </p:sp>
      <p:pic>
        <p:nvPicPr>
          <p:cNvPr id="3089" name="图片 3088">
            <a:extLst>
              <a:ext uri="{FF2B5EF4-FFF2-40B4-BE49-F238E27FC236}">
                <a16:creationId xmlns:a16="http://schemas.microsoft.com/office/drawing/2014/main" id="{88A2A4A4-AAB2-7A8B-1307-2243D1AAA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112" y="1989598"/>
            <a:ext cx="3464795" cy="17809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093" name="图片 3092">
            <a:extLst>
              <a:ext uri="{FF2B5EF4-FFF2-40B4-BE49-F238E27FC236}">
                <a16:creationId xmlns:a16="http://schemas.microsoft.com/office/drawing/2014/main" id="{A3F57228-05FD-B281-7416-75D33BC27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363" y="4118655"/>
            <a:ext cx="3484503" cy="18606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同侧圆角矩形 37">
            <a:extLst>
              <a:ext uri="{FF2B5EF4-FFF2-40B4-BE49-F238E27FC236}">
                <a16:creationId xmlns:a16="http://schemas.microsoft.com/office/drawing/2014/main" id="{D00819FF-76CF-1CC0-661F-51231551D433}"/>
              </a:ext>
            </a:extLst>
          </p:cNvPr>
          <p:cNvSpPr/>
          <p:nvPr/>
        </p:nvSpPr>
        <p:spPr>
          <a:xfrm rot="10800000">
            <a:off x="5825793" y="1154106"/>
            <a:ext cx="5728406" cy="4962393"/>
          </a:xfrm>
          <a:prstGeom prst="round2SameRect">
            <a:avLst>
              <a:gd name="adj1" fmla="val 0"/>
              <a:gd name="adj2" fmla="val 0"/>
            </a:avLst>
          </a:prstGeom>
          <a:noFill/>
          <a:ln w="1905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同侧圆角矩形 37">
            <a:extLst>
              <a:ext uri="{FF2B5EF4-FFF2-40B4-BE49-F238E27FC236}">
                <a16:creationId xmlns:a16="http://schemas.microsoft.com/office/drawing/2014/main" id="{9EFD6EF3-CF95-2BBA-867B-0AF58AEB850F}"/>
              </a:ext>
            </a:extLst>
          </p:cNvPr>
          <p:cNvSpPr/>
          <p:nvPr/>
        </p:nvSpPr>
        <p:spPr>
          <a:xfrm rot="10800000">
            <a:off x="403121" y="175833"/>
            <a:ext cx="11151074" cy="5948037"/>
          </a:xfrm>
          <a:prstGeom prst="round2SameRect">
            <a:avLst>
              <a:gd name="adj1" fmla="val 0"/>
              <a:gd name="adj2" fmla="val 0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24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1114</Words>
  <Application>Microsoft Macintosh PowerPoint</Application>
  <PresentationFormat>Widescreen</PresentationFormat>
  <Paragraphs>172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微软雅黑</vt:lpstr>
      <vt:lpstr>ui-monospace</vt:lpstr>
      <vt:lpstr>Arial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Yanlin Wang</cp:lastModifiedBy>
  <cp:revision>9</cp:revision>
  <dcterms:created xsi:type="dcterms:W3CDTF">2024-10-31T17:37:13Z</dcterms:created>
  <dcterms:modified xsi:type="dcterms:W3CDTF">2024-11-01T06:52:07Z</dcterms:modified>
</cp:coreProperties>
</file>